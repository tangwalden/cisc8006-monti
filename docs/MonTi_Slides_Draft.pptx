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89193f5d4a43a9" /><Relationship Type="http://schemas.openxmlformats.org/officeDocument/2006/relationships/extended-properties" Target="/docProps/app.xml" Id="R3b74a43f3155480d" /><Relationship Type="http://schemas.openxmlformats.org/officeDocument/2006/relationships/officeDocument" Target="/ppt/presentation.xml" Id="Ra2aa9b827a4f4027" /></Relationships>
</file>

<file path=ppt/presentation.xml><?xml version="1.0" encoding="utf-8"?>
<p:presentation xmlns:p="http://schemas.openxmlformats.org/presentationml/2006/main">
  <p:sldMasterIdLst>
    <p:sldMasterId xmlns:r="http://schemas.openxmlformats.org/officeDocument/2006/relationships" id="2147483648" r:id="Rc8ced3ec60e940a9"/>
  </p:sldMasterIdLst>
  <p:notesMasterIdLst>
    <p:notesMasterId xmlns:r="http://schemas.openxmlformats.org/officeDocument/2006/relationships" r:id="Rcb77bea97a684e0d"/>
  </p:notesMasterIdLst>
  <p:sldIdLst>
    <p:sldId xmlns:r="http://schemas.openxmlformats.org/officeDocument/2006/relationships" id="256" r:id="R8fd5b19e02624411"/>
    <p:sldId xmlns:r="http://schemas.openxmlformats.org/officeDocument/2006/relationships" id="257" r:id="R5c98d9afce4f4369"/>
    <p:sldId xmlns:r="http://schemas.openxmlformats.org/officeDocument/2006/relationships" id="258" r:id="R238612ae30444d8e"/>
    <p:sldId xmlns:r="http://schemas.openxmlformats.org/officeDocument/2006/relationships" id="259" r:id="R729a18fe70db4611"/>
    <p:sldId xmlns:r="http://schemas.openxmlformats.org/officeDocument/2006/relationships" id="260" r:id="R4927fa46249c4b81"/>
    <p:sldId xmlns:r="http://schemas.openxmlformats.org/officeDocument/2006/relationships" id="261" r:id="Re19a513c932a47e2"/>
    <p:sldId xmlns:r="http://schemas.openxmlformats.org/officeDocument/2006/relationships" id="262" r:id="R6a3f7c7ad1064227"/>
    <p:sldId xmlns:r="http://schemas.openxmlformats.org/officeDocument/2006/relationships" id="263" r:id="R6c3aae96b0a647d7"/>
    <p:sldId xmlns:r="http://schemas.openxmlformats.org/officeDocument/2006/relationships" id="264" r:id="R4002d8bae4ea4717"/>
    <p:sldId xmlns:r="http://schemas.openxmlformats.org/officeDocument/2006/relationships" id="265" r:id="Rfe73da6361ff4951"/>
    <p:sldId xmlns:r="http://schemas.openxmlformats.org/officeDocument/2006/relationships" id="266" r:id="R41d32f6f6c4d455e"/>
    <p:sldId xmlns:r="http://schemas.openxmlformats.org/officeDocument/2006/relationships" id="267" r:id="Rc115205d7d724d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dbb6ad6f154312" /><Relationship Type="http://schemas.openxmlformats.org/officeDocument/2006/relationships/slideMaster" Target="/ppt/slideMasters/slideMaster1.xml" Id="Rc8ced3ec60e940a9" /><Relationship Type="http://schemas.openxmlformats.org/officeDocument/2006/relationships/notesMaster" Target="/ppt/notesMasters/notesMaster1.xml" Id="Rcb77bea97a684e0d" /><Relationship Type="http://schemas.openxmlformats.org/officeDocument/2006/relationships/presProps" Target="/ppt/presProps.xml" Id="R5a57f27994a048b2" /><Relationship Type="http://schemas.openxmlformats.org/officeDocument/2006/relationships/tableStyles" Target="/ppt/tableStyles.xml" Id="R68eff7e5a38248a6" /><Relationship Type="http://schemas.openxmlformats.org/officeDocument/2006/relationships/slide" Target="/ppt/slides/slide1.xml" Id="R8fd5b19e02624411" /><Relationship Type="http://schemas.openxmlformats.org/officeDocument/2006/relationships/slide" Target="/ppt/slides/slide2.xml" Id="R5c98d9afce4f4369" /><Relationship Type="http://schemas.openxmlformats.org/officeDocument/2006/relationships/slide" Target="/ppt/slides/slide3.xml" Id="R238612ae30444d8e" /><Relationship Type="http://schemas.openxmlformats.org/officeDocument/2006/relationships/slide" Target="/ppt/slides/slide4.xml" Id="R729a18fe70db4611" /><Relationship Type="http://schemas.openxmlformats.org/officeDocument/2006/relationships/slide" Target="/ppt/slides/slide5.xml" Id="R4927fa46249c4b81" /><Relationship Type="http://schemas.openxmlformats.org/officeDocument/2006/relationships/slide" Target="/ppt/slides/slide6.xml" Id="Re19a513c932a47e2" /><Relationship Type="http://schemas.openxmlformats.org/officeDocument/2006/relationships/slide" Target="/ppt/slides/slide7.xml" Id="R6a3f7c7ad1064227" /><Relationship Type="http://schemas.openxmlformats.org/officeDocument/2006/relationships/slide" Target="/ppt/slides/slide8.xml" Id="R6c3aae96b0a647d7" /><Relationship Type="http://schemas.openxmlformats.org/officeDocument/2006/relationships/slide" Target="/ppt/slides/slide9.xml" Id="R4002d8bae4ea4717" /><Relationship Type="http://schemas.openxmlformats.org/officeDocument/2006/relationships/slide" Target="/ppt/slides/slide10.xml" Id="Rfe73da6361ff4951" /><Relationship Type="http://schemas.openxmlformats.org/officeDocument/2006/relationships/slide" Target="/ppt/slides/slide11.xml" Id="R41d32f6f6c4d455e" /><Relationship Type="http://schemas.openxmlformats.org/officeDocument/2006/relationships/slide" Target="/ppt/slides/slide12.xml" Id="Rc115205d7d724d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44925dc4d149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68b65bb90b4e7d" /><Relationship Type="http://schemas.openxmlformats.org/officeDocument/2006/relationships/notesMaster" Target="/ppt/notesMasters/notesMaster1.xml" Id="Rfa91eb695a2546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10bf0360cb4e01" /><Relationship Type="http://schemas.openxmlformats.org/officeDocument/2006/relationships/notesMaster" Target="/ppt/notesMasters/notesMaster1.xml" Id="Rd4b68dddef594f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c0639cf832467c" /><Relationship Type="http://schemas.openxmlformats.org/officeDocument/2006/relationships/notesMaster" Target="/ppt/notesMasters/notesMaster1.xml" Id="R35a9cf96531647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4609e9f6fb4aa0" /><Relationship Type="http://schemas.openxmlformats.org/officeDocument/2006/relationships/notesMaster" Target="/ppt/notesMasters/notesMaster1.xml" Id="Rdf3826f823094a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56b733780f4ac2" /><Relationship Type="http://schemas.openxmlformats.org/officeDocument/2006/relationships/notesMaster" Target="/ppt/notesMasters/notesMaster1.xml" Id="R0f590b3f224e48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85f88fdc07482a" /><Relationship Type="http://schemas.openxmlformats.org/officeDocument/2006/relationships/notesMaster" Target="/ppt/notesMasters/notesMaster1.xml" Id="R811ba6c2d90447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019b938b454efa" /><Relationship Type="http://schemas.openxmlformats.org/officeDocument/2006/relationships/notesMaster" Target="/ppt/notesMasters/notesMaster1.xml" Id="Rad1e69f139ef46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b30ef5043241cc" /><Relationship Type="http://schemas.openxmlformats.org/officeDocument/2006/relationships/notesMaster" Target="/ppt/notesMasters/notesMaster1.xml" Id="Rfe84e6dee85d42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3238534b104dd6" /><Relationship Type="http://schemas.openxmlformats.org/officeDocument/2006/relationships/notesMaster" Target="/ppt/notesMasters/notesMaster1.xml" Id="R3b95d5fe805b4c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031432d1f148c8" /><Relationship Type="http://schemas.openxmlformats.org/officeDocument/2006/relationships/notesMaster" Target="/ppt/notesMasters/notesMaster1.xml" Id="R1818610c771141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59bb28dd864389" /><Relationship Type="http://schemas.openxmlformats.org/officeDocument/2006/relationships/notesMaster" Target="/ppt/notesMasters/notesMaster1.xml" Id="R9a2ce792fea34f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3a6f4671ef4791" /><Relationship Type="http://schemas.openxmlformats.org/officeDocument/2006/relationships/notesMaster" Target="/ppt/notesMasters/notesMaster1.xml" Id="R8c6b77a969bf4d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Junyi Tang. Target: 20 seconds. This is a preparation draft, not a record of rehearsal or contribution. State the component question and that the frozen result is inconclusive. The instructor has not confirmed Component approval.</a:t>
            </a:r>
          </a:p>
          <a:p xmlns:a="http://schemas.openxmlformats.org/drawingml/2006/main">
            <a:r>
              <a:t>Sources:</a:t>
            </a:r>
          </a:p>
          <a:p xmlns:a="http://schemas.openxmlformats.org/drawingml/2006/main">
            <a:r>
              <a:t>https://github.com/TangWalden/CISC8006-MonTi/blob/9d5b62173249829063219beac8c3aaf4cf3aa45b/docs/REPORT_DRAFT.md</a:t>
            </a:r>
          </a:p>
          <a:p xmlns:a="http://schemas.openxmlformats.org/drawingml/2006/main">
            <a:r>
              <a:t>https://github.com/TangWalden/CISC8006-MonTi/blob/9d5b62173249829063219beac8c3aaf4cf3aa45b/course/PROJECT_STATUS.json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Junyi Tang. Target: 55 seconds. Rehearsal and actual contribution are not recorded.</a:t>
            </a:r>
          </a:p>
          <a:p xmlns:a="http://schemas.openxmlformats.org/drawingml/2006/main">
            <a:r>
              <a:t/>
            </a:r>
          </a:p>
          <a:p xmlns:a="http://schemas.openxmlformats.org/drawingml/2006/main">
            <a:r>
              <a:t>Explain MR as total incorrect target occurrences divided by all target occurrences. Groups can overlap. For group sizes 1 and 3 with errors 1 and 0, MR is25%, whereas the unweighted group mean is50%. Run seed is the replication unit. Both conditions retrain separately, max100 epochs, patience10. The random control resamples uniformly without replacement on every forward when the pool exceedsK. The corrected flag and retained incidence budget limit equivalence to paper Table5.</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https://github.com/TangWalden/CISC8006-MonTi/blob/9d5b62173249829063219beac8c3aaf4cf3aa45b/course/frozen_protocol.json</a:t>
            </a:r>
          </a:p>
          <a:p xmlns:a="http://schemas.openxmlformats.org/drawingml/2006/main">
            <a:r>
              <a:t>https://github.com/TangWalden/CISC8006-MonTi/blob/9d5b62173249829063219beac8c3aaf4cf3aa45b/course/configs/baseline.json</a:t>
            </a:r>
          </a:p>
          <a:p xmlns:a="http://schemas.openxmlformats.org/drawingml/2006/main">
            <a:r>
              <a:t>https://github.com/TangWalden/CISC8006-MonTi/blob/9d5b62173249829063219beac8c3aaf4cf3aa45b/course/test_protocol.py</a:t>
            </a:r>
          </a:p>
          <a:p xmlns:a="http://schemas.openxmlformats.org/drawingml/2006/main">
            <a:r>
              <a:t>https://github.com/TangWalden/CISC8006-MonTi/blob/9d5b62173249829063219beac8c3aaf4cf3aa45b/evidence/data/partition_audit.json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Junyi Tang. Target: 75 seconds. Rehearsal and actual contribution are not recorded.</a:t>
            </a:r>
          </a:p>
          <a:p xmlns:a="http://schemas.openxmlformats.org/drawingml/2006/main">
            <a:r>
              <a:t/>
            </a:r>
          </a:p>
          <a:p xmlns:a="http://schemas.openxmlformats.org/drawingml/2006/main">
            <a:r>
              <a:t>All six final runs completed and were independently recounted. Each contains909 groups and10515 occurrences. Learned mean43.7280% with sampleSD0.7459; random40.1902% with sampleSD1.3019. Three observed positive differences do not override the paired t(df2) interval crossing zero. The interval is conditional on fixed split and detectors. Clean GAGA MR21.6833%. No extra seeds were added.</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https://github.com/TangWalden/CISC8006-MonTi/blob/9d5b62173249829063219beac8c3aaf4cf3aa45b/evidence/reproduction_summary.json</a:t>
            </a:r>
          </a:p>
          <a:p xmlns:a="http://schemas.openxmlformats.org/drawingml/2006/main">
            <a:r>
              <a:t>https://github.com/TangWalden/CISC8006-MonTi/blob/9d5b62173249829063219beac8c3aaf4cf3aa45b/evidence/baseline_audit.json</a:t>
            </a:r>
          </a:p>
          <a:p xmlns:a="http://schemas.openxmlformats.org/drawingml/2006/main">
            <a:r>
              <a:t>https://github.com/TangWalden/CISC8006-MonTi/blob/9d5b62173249829063219beac8c3aaf4cf3aa45b/course/frozen_protocol.json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Junyi Tang. Target: 30 seconds. Rehearsal and actual contribution are not recorded.</a:t>
            </a:r>
          </a:p>
          <a:p xmlns:a="http://schemas.openxmlformats.org/drawingml/2006/main">
            <a:r>
              <a:t/>
            </a:r>
          </a:p>
          <a:p xmlns:a="http://schemas.openxmlformats.org/drawingml/2006/main">
            <a:r>
              <a:t>All nine technical pilots and selected-checkpoint audit completed. Each validation run has1091 occurrences. Coverage and size sampling each lost to their paired baseline in all three seeds. Original selection mechanically nominated coverage even when both means were negative. Owner subsequently held the follow-up and required outcome-first diagnosis. These are not GAGA test effects or course-approved pilots.</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https://github.com/TangWalden/CISC8006-MonTi/blob/9d5b62173249829063219beac8c3aaf4cf3aa45b/evidence/improvement_pilot_summary.json</a:t>
            </a:r>
          </a:p>
          <a:p xmlns:a="http://schemas.openxmlformats.org/drawingml/2006/main">
            <a:r>
              <a:t>https://github.com/TangWalden/CISC8006-MonTi/blob/9d5b62173249829063219beac8c3aaf4cf3aa45b/evidence/improvement_pilot_audit.json</a:t>
            </a:r>
          </a:p>
          <a:p xmlns:a="http://schemas.openxmlformats.org/drawingml/2006/main">
            <a:r>
              <a:t>https://github.com/TangWalden/CISC8006-MonTi/blob/9d5b62173249829063219beac8c3aaf4cf3aa45b/course/improvements/pilot_protocol_v1.json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Yifan Fan. Target: 65 seconds. Rehearsal and actual contribution are not recorded.</a:t>
            </a:r>
          </a:p>
          <a:p xmlns:a="http://schemas.openxmlformats.org/drawingml/2006/main">
            <a:r>
              <a:t/>
            </a:r>
          </a:p>
          <a:p xmlns:a="http://schemas.openxmlformats.org/drawingml/2006/main">
            <a:r>
              <a:t>The physical injected edge is correct. The discrepancy concerns which contextualized representation scores it, not absence of injected information. Across48 group/checkpoint cases and243 exposures, CPU generation gives148 residuals and17 historical vectors on either detector, GPU generation gives147 and48. Fixed-graph detector-device changes cause no class differences. Prediction concordance does not establish original feature/graph identity. Ties alone are not a demonstrated sole cause. These are exploratory GCN validation diagnostics, not a successful correction.</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https://github.com/TangWalden/CISC8006-MonTi/blob/9d5b62173249829063219beac8c3aaf4cf3aa45b/docs/SCORE_ROLE_REPLAY.md</a:t>
            </a:r>
          </a:p>
          <a:p xmlns:a="http://schemas.openxmlformats.org/drawingml/2006/main">
            <a:r>
              <a:t>https://github.com/TangWalden/CISC8006-MonTi/blob/9d5b62173249829063219beac8c3aaf4cf3aa45b/evidence/score_role_replay_v2/summary.json</a:t>
            </a:r>
          </a:p>
          <a:p xmlns:a="http://schemas.openxmlformats.org/drawingml/2006/main">
            <a:r>
              <a:t>https://github.com/TangWalden/CISC8006-MonTi/blob/9d5b62173249829063219beac8c3aaf4cf3aa45b/evidence/score_role_replay_audit_v2.json</a:t>
            </a:r>
          </a:p>
          <a:p xmlns:a="http://schemas.openxmlformats.org/drawingml/2006/main">
            <a:r>
              <a:t>https://github.com/TangWalden/CISC8006-MonTi/blob/9d5b62173249829063219beac8c3aaf4cf3aa45b/course/PAPER_EDGE_SCORE_CHECK.md</a:t>
            </a:r>
          </a:p>
          <a:p xmlns:a="http://schemas.openxmlformats.org/drawingml/2006/main">
            <a:r>
              <a:t>https://ojs.aaai.org/index.php/AAAI/article/view/33760/35915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Yifan Fan. Target: 65 seconds. Rehearsal and actual contribution are not recorded.</a:t>
            </a:r>
          </a:p>
          <a:p xmlns:a="http://schemas.openxmlformats.org/drawingml/2006/main">
            <a:r>
              <a:t/>
            </a:r>
          </a:p>
          <a:p xmlns:a="http://schemas.openxmlformats.org/drawingml/2006/main">
            <a:r>
              <a:t>A aligns scoring with the injected source and requires consistently retrained weights with a fresh matched baseline. B applies only when node and edge budgets both equal1. It uses clean fixed-surrogate predicted-fraud eligibility and all-target fallback, never victim or evaluation-label oracle choices. GPU reconstruction shows six eligible opportunities, which are not measured gains. Compare native/all-target/random count-matched masks with shared features and fair clean-query accounting. C is only an unapproved exact-tie reproducibility control. Proposed ceiling2 aggregateGPUh is not launch authorization. Twelve synthetic checks establish preparation, not effectiveness or novelty.</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https://github.com/TangWalden/CISC8006-MonTi/blob/9d5b62173249829063219beac8c3aaf4cf3aa45b/course/IMPROVEMENT_PROPOSAL_V2.md</a:t>
            </a:r>
          </a:p>
          <a:p xmlns:a="http://schemas.openxmlformats.org/drawingml/2006/main">
            <a:r>
              <a:t>https://github.com/TangWalden/CISC8006-MonTi/blob/9d5b62173249829063219beac8c3aaf4cf3aa45b/course/outcome_v2/PILOT_PROTOCOL_DRAFT.md</a:t>
            </a:r>
          </a:p>
          <a:p xmlns:a="http://schemas.openxmlformats.org/drawingml/2006/main">
            <a:r>
              <a:t>https://github.com/TangWalden/CISC8006-MonTi/blob/9d5b62173249829063219beac8c3aaf4cf3aa45b/evidence/outcome_v2_synthetic_checks/attempt1.json</a:t>
            </a:r>
          </a:p>
          <a:p xmlns:a="http://schemas.openxmlformats.org/drawingml/2006/main">
            <a:r>
              <a:t>https://github.com/TangWalden/CISC8006-MonTi/blob/9d5b62173249829063219beac8c3aaf4cf3aa45b/evidence/outcome_v2_synthetic_checks/review_and_receipt.json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speaker: Yifan Fan. Target: 50 seconds. Rehearsal and actual contribution are not recorded.</a:t>
            </a:r>
          </a:p>
          <a:p xmlns:a="http://schemas.openxmlformats.org/drawingml/2006/main">
            <a:r>
              <a:t/>
            </a:r>
          </a:p>
          <a:p xmlns:a="http://schemas.openxmlformats.org/drawingml/2006/main">
            <a:r>
              <a:t>Completed evidence includes six frozen baseline runs, nine negative technical pilots, audited diagnostics and isolated functional preparation. Full improvement/control evaluation is unexecuted. Owner direction, instructor approvals, human technical checks, actual contributions and final course freeze remain pending. English report, deck and offline demonstration are preparation only. Both members must speak and perform their own defense. Six-minute timing here is a proposed plan, not a UMMoodle requirement or recorded rehearsal.</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https://github.com/TangWalden/CISC8006-MonTi/blob/9d5b62173249829063219beac8c3aaf4cf3aa45b/course/PROJECT_STATUS.json</a:t>
            </a:r>
          </a:p>
          <a:p xmlns:a="http://schemas.openxmlformats.org/drawingml/2006/main">
            <a:r>
              <a:t>https://github.com/TangWalden/CISC8006-MonTi/blob/9d5b62173249829063219beac8c3aaf4cf3aa45b/course/GRADING_AUDIT.md</a:t>
            </a:r>
          </a:p>
          <a:p xmlns:a="http://schemas.openxmlformats.org/drawingml/2006/main">
            <a:r>
              <a:t>https://github.com/TangWalden/CISC8006-MonTi/blob/9d5b62173249829063219beac8c3aaf4cf3aa45b/evidence/course-guide.txt</a:t>
            </a:r>
          </a:p>
          <a:p xmlns:a="http://schemas.openxmlformats.org/drawingml/2006/main">
            <a:r>
              <a:t>https://github.com/TangWalden/CISC8006-MonTi/blob/9d5b62173249829063219beac8c3aaf4cf3aa45b/docs/HUMAN_REVIEW.md</a:t>
            </a:r>
          </a:p>
          <a:p xmlns:a="http://schemas.openxmlformats.org/drawingml/2006/main">
            <a:r>
              <a:t>https://github.com/TangWalden/CISC8006-MonTi/blob/9d5b62173249829063219beac8c3aaf4cf3aa45b/CONTRIBUTIONS.md</a:t>
            </a:r>
          </a:p>
          <a:p xmlns:a="http://schemas.openxmlformats.org/drawingml/2006/main">
            <a:r>
              <a:t>https://github.com/TangWalden/CISC8006-MonTi/blob/9d5b62173249829063219beac8c3aaf4cf3aa45b/AI_USAGE.md</a:t>
            </a:r>
          </a:p>
          <a:p xmlns:a="http://schemas.openxmlformats.org/drawingml/2006/main">
            <a:r>
              <a:t>https://github.com/TangWalden/CISC8006-MonTi/blob/9d5b62173249829063219beac8c3aaf4cf3aa45b/docs/DEMO_SCRIPT.md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No assigned assessed-defense response.</a:t>
            </a:r>
          </a:p>
          <a:p xmlns:a="http://schemas.openxmlformats.org/drawingml/2006/main">
            <a:r>
              <a:t/>
            </a:r>
          </a:p>
          <a:p xmlns:a="http://schemas.openxmlformats.org/drawingml/2006/main">
            <a:r>
              <a:t>SampleSD is reported in the report. PaperTable5 is43.70/39.13 with difference4.57pp. Table4 is41.34+/-1.90, unresolved. The corrected selector flag, explicit random resampling and incidence-based budgets limit historical equivalence. Do not choose the closest paper table as proof.</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https://github.com/TangWalden/CISC8006-MonTi/blob/9d5b62173249829063219beac8c3aaf4cf3aa45b/evidence/reproduction_summary.json</a:t>
            </a:r>
          </a:p>
          <a:p xmlns:a="http://schemas.openxmlformats.org/drawingml/2006/main">
            <a:r>
              <a:t>https://github.com/TangWalden/CISC8006-MonTi/blob/9d5b62173249829063219beac8c3aaf4cf3aa45b/evidence/improvement_pilot_summary.json</a:t>
            </a:r>
          </a:p>
          <a:p xmlns:a="http://schemas.openxmlformats.org/drawingml/2006/main">
            <a:r>
              <a:t>https://github.com/TangWalden/CISC8006-MonTi/blob/9d5b62173249829063219beac8c3aaf4cf3aa45b/course/frozen_protocol.json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No assigned assessed-defense response.</a:t>
            </a:r>
          </a:p>
          <a:p xmlns:a="http://schemas.openxmlformats.org/drawingml/2006/main">
            <a:r>
              <a:t/>
            </a:r>
          </a:p>
          <a:p xmlns:a="http://schemas.openxmlformats.org/drawingml/2006/main">
            <a:r>
              <a:t>Lowest training-derived nodes-per-target bin contains432/438 residuals but2727/14889 repeated seed-occurrence exposures. Residual rate432/2727=15.84% versus6/12162=.0493% elsewhere. Budget,degree,geometry are confounded. Selected validation checkpoints and repeated overlapping nodes are not independent confirmation. No monotone group-size trend supports a simple size explanation.</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https://github.com/TangWalden/CISC8006-MonTi/blob/9d5b62173249829063219beac8c3aaf4cf3aa45b/evidence/results_first_diagnosis_v1/training_derived_bins.csv</a:t>
            </a:r>
          </a:p>
          <a:p xmlns:a="http://schemas.openxmlformats.org/drawingml/2006/main">
            <a:r>
              <a:t>https://github.com/TangWalden/CISC8006-MonTi/blob/9d5b62173249829063219beac8c3aaf4cf3aa45b/evidence/results_first_diagnosis_v1/summary.json</a:t>
            </a:r>
          </a:p>
          <a:p xmlns:a="http://schemas.openxmlformats.org/drawingml/2006/main">
            <a:r>
              <a:t>https://github.com/TangWalden/CISC8006-MonTi/blob/9d5b62173249829063219beac8c3aaf4cf3aa45b/docs/RESULTS_FIRST_DIAGNOSIS.md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No assigned assessed-defense response.</a:t>
            </a:r>
          </a:p>
          <a:p xmlns:a="http://schemas.openxmlformats.org/drawingml/2006/main">
            <a:r>
              <a:t/>
            </a:r>
          </a:p>
          <a:p xmlns:a="http://schemas.openxmlformats.org/drawingml/2006/main">
            <a:r>
              <a:t>243 occurrences and243 endpoint configurations happen to share a count but are different axes. CPU reconstruction has148 residuals, versus147 historical. Only17/48 full historical vectors agree. The oracle reduces CPU residuals to141: seven extra incorrect occurrences on this selected cohort,2.8807pp here only. All seven strict CPU cases selected an already clean-wrong endpoint. GPU reconstruction has six eligibility opportunities instead. These are neither trained-policy gains nor a universal one-edge capacity bound. The failed79-forward attempt and complete355-forward retry are preserved.</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https://github.com/TangWalden/CISC8006-MonTi/blob/9d5b62173249829063219beac8c3aaf4cf3aa45b/evidence/one_edge_diagnosis_v2/summary.json</a:t>
            </a:r>
          </a:p>
          <a:p xmlns:a="http://schemas.openxmlformats.org/drawingml/2006/main">
            <a:r>
              <a:t>https://github.com/TangWalden/CISC8006-MonTi/blob/9d5b62173249829063219beac8c3aaf4cf3aa45b/evidence/one_edge_endpoint_attribution_v1.json</a:t>
            </a:r>
          </a:p>
          <a:p xmlns:a="http://schemas.openxmlformats.org/drawingml/2006/main">
            <a:r>
              <a:t>https://github.com/TangWalden/CISC8006-MonTi/blob/9d5b62173249829063219beac8c3aaf4cf3aa45b/docs/ONE_EDGE_DIAGNOSIS.md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No assigned assessed-defense response.</a:t>
            </a:r>
          </a:p>
          <a:p xmlns:a="http://schemas.openxmlformats.org/drawingml/2006/main">
            <a:r>
              <a:t/>
            </a:r>
          </a:p>
          <a:p xmlns:a="http://schemas.openxmlformats.org/drawingml/2006/main">
            <a:r>
              <a:t>Actual raw max ties58/96; actual target-probability max ties63/96. Identical-vector native top-k differs across devices32/96, all on exact ties. Natural CPU/GPU vectors agree0/48, endpoints differ35/48 and candidate sets/order36/48. Old-weight paper-role raw reference ties36/96 and was not evaluated as an attack. Compare raw-to-raw, not soft-to-raw as a fix. C proposes lowest-global-ID exact ties only and cannot guarantee whole-generator device identity.</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https://github.com/TangWalden/CISC8006-MonTi/blob/9d5b62173249829063219beac8c3aaf4cf3aa45b/evidence/score_role_replay_v2/summary.json</a:t>
            </a:r>
          </a:p>
          <a:p xmlns:a="http://schemas.openxmlformats.org/drawingml/2006/main">
            <a:r>
              <a:t>https://github.com/TangWalden/CISC8006-MonTi/blob/9d5b62173249829063219beac8c3aaf4cf3aa45b/evidence/score_role_replay_v2/generators.csv</a:t>
            </a:r>
          </a:p>
          <a:p xmlns:a="http://schemas.openxmlformats.org/drawingml/2006/main">
            <a:r>
              <a:t>https://github.com/TangWalden/CISC8006-MonTi/blob/9d5b62173249829063219beac8c3aaf4cf3aa45b/evidence/score_role_replay_v2/pairs.csv</a:t>
            </a:r>
          </a:p>
          <a:p xmlns:a="http://schemas.openxmlformats.org/drawingml/2006/main">
            <a:r>
              <a:t>https://github.com/TangWalden/CISC8006-MonTi/blob/9d5b62173249829063219beac8c3aaf4cf3aa45b/evidence/score_role_replay_audit_v2.json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No assigned assessed-defense response.</a:t>
            </a:r>
          </a:p>
          <a:p xmlns:a="http://schemas.openxmlformats.org/drawingml/2006/main">
            <a:r>
              <a:t/>
            </a:r>
          </a:p>
          <a:p xmlns:a="http://schemas.openxmlformats.org/drawingml/2006/main">
            <a:r>
              <a:t>Trace learned seed0 run20261028T122617Z_reproduction_learned_s0_772a5d through registration/configuration/result/victim count summary. Public group-count and private raw-prediction hashes identify different artifacts. Original execution9f782df maps truthfully to an English public source. Six formal runner costs2.692921h and baseline queue2.759076h are different nested scopes and must not be summed. Additional research has12h cap, charged0.775006 and reserve0.020000. SharedGPU timing is descriptive and prices unavailable. Demo reads saved evidence. Actual rehearsal, human technical reviews and contribution verification remain unrecorded.</a:t>
            </a:r>
          </a:p>
          <a:p xmlns:a="http://schemas.openxmlformats.org/drawingml/2006/main">
            <a:r>
              <a:t/>
            </a:r>
          </a:p>
          <a:p xmlns:a="http://schemas.openxmlformats.org/drawingml/2006/main">
            <a:r>
              <a:t>Evidence snapshot: 9d5b62173249829063219beac8c3aaf4cf3aa45b</a:t>
            </a:r>
          </a:p>
          <a:p xmlns:a="http://schemas.openxmlformats.org/drawingml/2006/main">
            <a:r>
              <a:t>Sources:</a:t>
            </a:r>
          </a:p>
          <a:p xmlns:a="http://schemas.openxmlformats.org/drawingml/2006/main">
            <a:r>
              <a:t>https://github.com/TangWalden/CISC8006-MonTi/blob/9d5b62173249829063219beac8c3aaf4cf3aa45b/evidence/run_registry.json</a:t>
            </a:r>
          </a:p>
          <a:p xmlns:a="http://schemas.openxmlformats.org/drawingml/2006/main">
            <a:r>
              <a:t>https://github.com/TangWalden/CISC8006-MonTi/blob/9d5b62173249829063219beac8c3aaf4cf3aa45b/evidence/publication_history_map.json</a:t>
            </a:r>
          </a:p>
          <a:p xmlns:a="http://schemas.openxmlformats.org/drawingml/2006/main">
            <a:r>
              <a:t>https://github.com/TangWalden/CISC8006-MonTi/blob/9d5b62173249829063219beac8c3aaf4cf3aa45b/evidence/research_cost_ledger.json</a:t>
            </a:r>
          </a:p>
          <a:p xmlns:a="http://schemas.openxmlformats.org/drawingml/2006/main">
            <a:r>
              <a:t>https://github.com/TangWalden/CISC8006-MonTi/blob/9d5b62173249829063219beac8c3aaf4cf3aa45b/docs/DEMO_SCRIPT.md</a:t>
            </a:r>
          </a:p>
          <a:p xmlns:a="http://schemas.openxmlformats.org/drawingml/2006/main">
            <a:r>
              <a:t>https://github.com/TangWalden/CISC8006-MonTi/blob/9d5b62173249829063219beac8c3aaf4cf3aa45b/AI_USAGE.md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838130cf154d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6037b9c3ae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2e0b71079c4f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564d6c410444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297fdfb86443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f549852e3d45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80C94E-3D34-4EAB-B05B-B9A049BB7F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FC0432-D5F5-471D-BC1C-B684E519DD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BDC62E-2B50-4A2A-977A-4A6A6646E5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27F6A5-62D9-46F0-A99C-9B4C336D84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1573E3-4B91-4776-8532-1080E01A86D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E79AEE-95B8-4A74-B505-2804612573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3C946E-AB62-4B20-9873-C26BAB5319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2956F6-1392-4AB1-BBDB-AD960338AC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9DCEF1-2E82-4161-8AAE-0DC2C8C937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7504CF-F596-4BE6-B447-99F2829EB8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a0c0c81cae41c0" /><Relationship Type="http://schemas.openxmlformats.org/officeDocument/2006/relationships/slideLayout" Target="/ppt/slideLayouts/slideLayout1.xml" Id="R908629506b73406f" /><Relationship Type="http://schemas.openxmlformats.org/officeDocument/2006/relationships/slideLayout" Target="/ppt/slideLayouts/slideLayout2.xml" Id="R5ac2d700c058445a" /><Relationship Type="http://schemas.openxmlformats.org/officeDocument/2006/relationships/slideLayout" Target="/ppt/slideLayouts/slideLayout3.xml" Id="Rc8b2cbe57b1a421e" /><Relationship Type="http://schemas.openxmlformats.org/officeDocument/2006/relationships/slideLayout" Target="/ppt/slideLayouts/slideLayout4.xml" Id="Ra1db31445d3e432f" /><Relationship Type="http://schemas.openxmlformats.org/officeDocument/2006/relationships/slideLayout" Target="/ppt/slideLayouts/slideLayout5.xml" Id="Rb51b5b0b1db7414e" /><Relationship Type="http://schemas.openxmlformats.org/officeDocument/2006/relationships/slideLayout" Target="/ppt/slideLayouts/slideLayout6.xml" Id="R8af9ff0ca3594b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8629506b73406f"/>
    <p:sldLayoutId xmlns:r="http://schemas.openxmlformats.org/officeDocument/2006/relationships" id="2147483650" r:id="R5ac2d700c058445a"/>
    <p:sldLayoutId xmlns:r="http://schemas.openxmlformats.org/officeDocument/2006/relationships" id="2147483651" r:id="Rc8b2cbe57b1a421e"/>
    <p:sldLayoutId xmlns:r="http://schemas.openxmlformats.org/officeDocument/2006/relationships" id="2147483652" r:id="Ra1db31445d3e432f"/>
    <p:sldLayoutId xmlns:r="http://schemas.openxmlformats.org/officeDocument/2006/relationships" id="2147483653" r:id="Rb51b5b0b1db7414e"/>
    <p:sldLayoutId xmlns:r="http://schemas.openxmlformats.org/officeDocument/2006/relationships" id="2147483654" r:id="R8af9ff0ca3594b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3fea24b51e42b8" /><Relationship Type="http://schemas.openxmlformats.org/officeDocument/2006/relationships/notesSlide" Target="/ppt/notesSlides/notesSlide1.xml" Id="R5bf74f4fda6845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19f1cc4ebe45b5" /><Relationship Type="http://schemas.openxmlformats.org/officeDocument/2006/relationships/notesSlide" Target="/ppt/notesSlides/notesSlide2.xml" Id="R0bc5550dfe2f48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11f2695bef4c81" /><Relationship Type="http://schemas.openxmlformats.org/officeDocument/2006/relationships/chart" Target="/ppt/slides/charts/chart1.xml" Id="R592bb34ad7144090" /><Relationship Type="http://schemas.openxmlformats.org/officeDocument/2006/relationships/notesSlide" Target="/ppt/notesSlides/notesSlide3.xml" Id="R7f2ac24734c14d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465e6f94114787" /><Relationship Type="http://schemas.openxmlformats.org/officeDocument/2006/relationships/chart" Target="/ppt/slides/charts/chart2.xml" Id="R8097bad0d0f84dcf" /><Relationship Type="http://schemas.openxmlformats.org/officeDocument/2006/relationships/notesSlide" Target="/ppt/notesSlides/notesSlide4.xml" Id="Rf9b3a58405c947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b91b5e106b4c20" /><Relationship Type="http://schemas.openxmlformats.org/officeDocument/2006/relationships/notesSlide" Target="/ppt/notesSlides/notesSlide5.xml" Id="R3cbc045e9ace49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1ae753a72d4e60" /><Relationship Type="http://schemas.openxmlformats.org/officeDocument/2006/relationships/notesSlide" Target="/ppt/notesSlides/notesSlide6.xml" Id="R25d5bf8cac8e4f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7f6e3fd86964277" /><Relationship Type="http://schemas.openxmlformats.org/officeDocument/2006/relationships/notesSlide" Target="/ppt/notesSlides/notesSlide7.xml" Id="R1f3b541e911041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b9910cab3904e70" /><Relationship Type="http://schemas.openxmlformats.org/officeDocument/2006/relationships/notesSlide" Target="/ppt/notesSlides/notesSlide8.xml" Id="Re0cf08c3eeb841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13bb21453c94714" /><Relationship Type="http://schemas.openxmlformats.org/officeDocument/2006/relationships/chart" Target="/ppt/slides/charts/chart3.xml" Id="Rdb3dd02553a640c7" /><Relationship Type="http://schemas.openxmlformats.org/officeDocument/2006/relationships/notesSlide" Target="/ppt/notesSlides/notesSlide9.xml" Id="R32c633498e7440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70ebac42324a10" /><Relationship Type="http://schemas.openxmlformats.org/officeDocument/2006/relationships/notesSlide" Target="/ppt/notesSlides/notesSlide10.xml" Id="R73a566d9e4d846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0da7e3c8524212" /><Relationship Type="http://schemas.openxmlformats.org/officeDocument/2006/relationships/notesSlide" Target="/ppt/notesSlides/notesSlide11.xml" Id="R6a666d9f55ce49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49075a9976443b" /><Relationship Type="http://schemas.openxmlformats.org/officeDocument/2006/relationships/notesSlide" Target="/ppt/notesSlides/notesSlide12.xml" Id="R200a7ab562ec427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Learned</c:v>
          </c:tx>
          <c:spPr>
            <a:solidFill xmlns:a="http://schemas.openxmlformats.org/drawingml/2006/main">
              <a:srgbClr val="206DA8"/>
            </a:solidFill>
          </c:spPr>
          <c:invertIfNegative val="0"/>
          <c:cat>
            <c:strRef>
              <c:f>'Chart Data'!$A$2:$A$4</c:f>
              <c:strCache>
                <c:ptCount val="3"/>
                <c:pt idx="0">
                  <c:v>Seed 0</c:v>
                </c:pt>
                <c:pt idx="1">
                  <c:v>Seed 1</c:v>
                </c:pt>
                <c:pt idx="2">
                  <c:v>Seed 2</c:v>
                </c:pt>
              </c:strCache>
            </c:strRef>
          </c:cat>
          <c:val>
            <c:numRef>
              <c:f>'Chart Data'!$B$2:$B$4</c:f>
              <c:numCache>
                <c:formatCode>0</c:formatCode>
                <c:ptCount val="3"/>
                <c:pt idx="0">
                  <c:v>44.28911079</c:v>
                </c:pt>
                <c:pt idx="1">
                  <c:v>42.88159772</c:v>
                </c:pt>
                <c:pt idx="2">
                  <c:v>44.01331431</c:v>
                </c:pt>
              </c:numCache>
            </c:numRef>
          </c:val>
        </c:ser>
        <c:ser>
          <c:idx val="1"/>
          <c:order val="1"/>
          <c:tx>
            <c:v>Random</c:v>
          </c:tx>
          <c:spPr>
            <a:solidFill xmlns:a="http://schemas.openxmlformats.org/drawingml/2006/main">
              <a:srgbClr val="9BAABA"/>
            </a:solidFill>
          </c:spPr>
          <c:invertIfNegative val="0"/>
          <c:cat>
            <c:strRef>
              <c:f>'Chart Data'!$C$2:$C$4</c:f>
              <c:strCache>
                <c:ptCount val="3"/>
                <c:pt idx="0">
                  <c:v>Seed 0</c:v>
                </c:pt>
                <c:pt idx="1">
                  <c:v>Seed 1</c:v>
                </c:pt>
                <c:pt idx="2">
                  <c:v>Seed 2</c:v>
                </c:pt>
              </c:strCache>
            </c:strRef>
          </c:cat>
          <c:val>
            <c:numRef>
              <c:f>'Chart Data'!$D$2:$D$4</c:f>
              <c:numCache>
                <c:formatCode>0</c:formatCode>
                <c:ptCount val="3"/>
                <c:pt idx="0">
                  <c:v>39.08701854</c:v>
                </c:pt>
                <c:pt idx="1">
                  <c:v>41.62624822</c:v>
                </c:pt>
                <c:pt idx="2">
                  <c:v>39.85734665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42E43"/>
                  </a:solidFill>
                  <a:latin typeface="Arial"/>
                  <a:ea typeface="Arial"/>
                  <a:cs typeface="Arial"/>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7C3"/>
            </a:solidFill>
          </a:ln>
        </c:spPr>
        <c:txPr>
          <a:bodyPr xmlns:a="http://schemas.openxmlformats.org/drawingml/2006/main" anchorCtr="1"/>
          <a:lstStyle xmlns:a="http://schemas.openxmlformats.org/drawingml/2006/main"/>
          <a:p xmlns:a="http://schemas.openxmlformats.org/drawingml/2006/main">
            <a:pPr>
              <a:defRPr sz="1650">
                <a:solidFill>
                  <a:srgbClr val="142E43"/>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E1E8ED"/>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MR (%)</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678"/>
                </a:solidFill>
                <a:latin typeface="Arial"/>
                <a:ea typeface="Arial"/>
                <a:cs typeface="Arial"/>
              </a:defRPr>
            </a:pPr>
          </a:p>
        </c:txPr>
        <c:crossAx val="48650112"/>
        <c:crossBetween val="between"/>
        <c:majorUnit val="10"/>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42E43"/>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gain</c:v>
          </c:tx>
          <c:spPr>
            <a:solidFill xmlns:a="http://schemas.openxmlformats.org/drawingml/2006/main">
              <a:srgbClr val="206DA8"/>
            </a:solidFill>
          </c:spPr>
          <c:invertIfNegative val="0"/>
          <c:dPt>
            <c:idx val="0"/>
            <c:invertIfNegative val="0"/>
            <c:spPr>
              <a:solidFill xmlns:a="http://schemas.openxmlformats.org/drawingml/2006/main">
                <a:srgbClr val="206DA8"/>
              </a:solidFill>
            </c:spPr>
          </c:dPt>
          <c:dPt>
            <c:idx val="1"/>
            <c:invertIfNegative val="0"/>
            <c:spPr>
              <a:solidFill xmlns:a="http://schemas.openxmlformats.org/drawingml/2006/main">
                <a:srgbClr val="BD6425"/>
              </a:solidFill>
            </c:spPr>
          </c:dPt>
          <c:cat>
            <c:strRef>
              <c:f>'Chart Data'!$A$2:$A$3</c:f>
              <c:strCache>
                <c:ptCount val="2"/>
                <c:pt idx="0">
                  <c:v>Coverage</c:v>
                </c:pt>
                <c:pt idx="1">
                  <c:v>Size sampling</c:v>
                </c:pt>
              </c:strCache>
            </c:strRef>
          </c:cat>
          <c:val>
            <c:numRef>
              <c:f>'Chart Data'!$B$2:$B$3</c:f>
              <c:numCache>
                <c:formatCode>0.0</c:formatCode>
                <c:ptCount val="2"/>
                <c:pt idx="0">
                  <c:v>-0.18331806</c:v>
                </c:pt>
                <c:pt idx="1">
                  <c:v>-0.54995417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42E43"/>
                  </a:solidFill>
                  <a:latin typeface="Arial"/>
                  <a:ea typeface="Arial"/>
                  <a:cs typeface="Arial"/>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7C3"/>
            </a:solidFill>
          </a:ln>
        </c:spPr>
        <c:txPr>
          <a:bodyPr xmlns:a="http://schemas.openxmlformats.org/drawingml/2006/main" anchorCtr="1"/>
          <a:lstStyle xmlns:a="http://schemas.openxmlformats.org/drawingml/2006/main"/>
          <a:p xmlns:a="http://schemas.openxmlformats.org/drawingml/2006/main">
            <a:pPr>
              <a:defRPr sz="1650">
                <a:solidFill>
                  <a:srgbClr val="142E43"/>
                </a:solidFill>
                <a:latin typeface="Arial"/>
                <a:ea typeface="Arial"/>
                <a:cs typeface="Arial"/>
              </a:defRPr>
            </a:pPr>
          </a:p>
        </c:txPr>
        <c:crossAx val="48672768"/>
      </c:catAx>
      <c:valAx>
        <c:axId val="48672768"/>
        <c:scaling>
          <c:orientation val="minMax"/>
          <c:max val="0"/>
          <c:min val="-0.8"/>
        </c:scaling>
        <c:delete val="0"/>
        <c:axPos val="l"/>
        <c:majorGridlines>
          <c:spPr>
            <a:ln xmlns:a="http://schemas.openxmlformats.org/drawingml/2006/main" w="9525">
              <a:solidFill>
                <a:srgbClr val="E1E8ED"/>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Difference (pp)</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678"/>
                </a:solidFill>
                <a:latin typeface="Arial"/>
                <a:ea typeface="Arial"/>
                <a:cs typeface="Arial"/>
              </a:defRPr>
            </a:pPr>
          </a:p>
        </c:txPr>
        <c:crossAx val="48650112"/>
        <c:crossBetween val="between"/>
        <c:majorUnit val="0.2"/>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exposures</c:v>
          </c:tx>
          <c:spPr>
            <a:solidFill xmlns:a="http://schemas.openxmlformats.org/drawingml/2006/main">
              <a:srgbClr val="9BAABA"/>
            </a:solidFill>
          </c:spPr>
          <c:invertIfNegative val="0"/>
          <c:cat>
            <c:strRef>
              <c:f>'Chart Data'!$A$2:$A$2</c:f>
              <c:strCache>
                <c:ptCount val="1"/>
                <c:pt idx="0">
                  <c:v>Lowest allocation bin</c:v>
                </c:pt>
              </c:strCache>
            </c:strRef>
          </c:cat>
          <c:val>
            <c:numRef>
              <c:f>'Chart Data'!$B$2:$B$2</c:f>
              <c:numCache>
                <c:formatCode>0</c:formatCode>
                <c:ptCount val="1"/>
                <c:pt idx="0">
                  <c:v>18.31553496</c:v>
                </c:pt>
              </c:numCache>
            </c:numRef>
          </c:val>
        </c:ser>
        <c:ser>
          <c:idx val="1"/>
          <c:order val="1"/>
          <c:tx>
            <c:v>Share of residuals</c:v>
          </c:tx>
          <c:spPr>
            <a:solidFill xmlns:a="http://schemas.openxmlformats.org/drawingml/2006/main">
              <a:srgbClr val="206DA8"/>
            </a:solidFill>
          </c:spPr>
          <c:invertIfNegative val="0"/>
          <c:cat>
            <c:strRef>
              <c:f>'Chart Data'!$C$2:$C$2</c:f>
              <c:strCache>
                <c:ptCount val="1"/>
                <c:pt idx="0">
                  <c:v>Lowest allocation bin</c:v>
                </c:pt>
              </c:strCache>
            </c:strRef>
          </c:cat>
          <c:val>
            <c:numRef>
              <c:f>'Chart Data'!$D$2:$D$2</c:f>
              <c:numCache>
                <c:formatCode>0</c:formatCode>
                <c:ptCount val="1"/>
                <c:pt idx="0">
                  <c:v>98.63013699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42E43"/>
                  </a:solidFill>
                  <a:latin typeface="Arial"/>
                  <a:ea typeface="Arial"/>
                  <a:cs typeface="Arial"/>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7C3"/>
            </a:solidFill>
          </a:ln>
        </c:spPr>
        <c:txPr>
          <a:bodyPr xmlns:a="http://schemas.openxmlformats.org/drawingml/2006/main" anchorCtr="1"/>
          <a:lstStyle xmlns:a="http://schemas.openxmlformats.org/drawingml/2006/main"/>
          <a:p xmlns:a="http://schemas.openxmlformats.org/drawingml/2006/main">
            <a:pPr>
              <a:defRPr sz="1650">
                <a:solidFill>
                  <a:srgbClr val="142E4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1E8ED"/>
              </a:solidFill>
            </a:ln>
          </c:spPr>
        </c:majorGridlines>
        <c:title>
          <c:tx>
            <c:rich>
              <a:bodyPr xmlns:a="http://schemas.openxmlformats.org/drawingml/2006/main"/>
              <a:lstStyle xmlns:a="http://schemas.openxmlformats.org/drawingml/2006/main"/>
              <a:p xmlns:a="http://schemas.openxmlformats.org/drawingml/2006/main">
                <a:r>
                  <a:rPr sz="1575">
                    <a:latin typeface="Arial"/>
                    <a:ea typeface="Arial"/>
                    <a:cs typeface="Arial"/>
                  </a:rPr>
                  <a:t>Share (%)</a:t>
                </a:r>
              </a:p>
            </c:rich>
          </c:tx>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678"/>
                </a:solidFill>
                <a:latin typeface="Arial"/>
                <a:ea typeface="Arial"/>
                <a:cs typeface="Arial"/>
              </a:defRPr>
            </a:pPr>
          </a:p>
        </c:txPr>
        <c:crossAx val="48650112"/>
        <c:crossBetween val="between"/>
        <c:majorUnit val="20"/>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42E43"/>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nTi component&#10;reproduction">
            <a:extLst xmlns:a="http://schemas.openxmlformats.org/drawingml/2006/main">
              <a:ext uri="{FF2B5EF4-FFF2-40B4-BE49-F238E27FC236}">
                <a16:creationId xmlns:a16="http://schemas.microsoft.com/office/drawing/2014/main" id="{ED1CD233-5BFB-4BC7-94A0-68692E26E5B4}"/>
              </a:ext>
            </a:extLst>
          </p:cNvPr>
          <p:cNvSpPr>
            <a:spLocks xmlns:a="http://schemas.openxmlformats.org/drawingml/2006/main" noGrp="1"/>
          </p:cNvSpPr>
          <p:nvPr/>
        </p:nvSpPr>
        <p:spPr>
          <a:xfrm xmlns:a="http://schemas.openxmlformats.org/drawingml/2006/main">
            <a:off x="609600" y="1095375"/>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42E43"/>
                </a:solidFill>
                <a:latin typeface="Arial"/>
                <a:ea typeface="Arial"/>
                <a:cs typeface="Arial"/>
              </a:defRPr>
            </a:defPPr>
            <a:lvl1pPr>
              <a:defRPr sz="4800" b="1">
                <a:solidFill>
                  <a:srgbClr val="142E43"/>
                </a:solidFill>
                <a:latin typeface="Arial"/>
                <a:ea typeface="Arial"/>
                <a:cs typeface="Arial"/>
              </a:defRPr>
            </a:lvl1pPr>
            <a:lvl2pPr>
              <a:defRPr sz="4800" b="1">
                <a:solidFill>
                  <a:srgbClr val="142E43"/>
                </a:solidFill>
                <a:latin typeface="Arial"/>
                <a:ea typeface="Arial"/>
                <a:cs typeface="Arial"/>
              </a:defRPr>
            </a:lvl2pPr>
            <a:lvl3pPr>
              <a:defRPr sz="4800" b="1">
                <a:solidFill>
                  <a:srgbClr val="142E43"/>
                </a:solidFill>
                <a:latin typeface="Arial"/>
                <a:ea typeface="Arial"/>
                <a:cs typeface="Arial"/>
              </a:defRPr>
            </a:lvl3pPr>
            <a:lvl4pPr>
              <a:defRPr sz="4800" b="1">
                <a:solidFill>
                  <a:srgbClr val="142E43"/>
                </a:solidFill>
                <a:latin typeface="Arial"/>
                <a:ea typeface="Arial"/>
                <a:cs typeface="Arial"/>
              </a:defRPr>
            </a:lvl4pPr>
            <a:lvl5pPr>
              <a:defRPr sz="4800" b="1">
                <a:solidFill>
                  <a:srgbClr val="142E43"/>
                </a:solidFill>
                <a:latin typeface="Arial"/>
                <a:ea typeface="Arial"/>
                <a:cs typeface="Arial"/>
              </a:defRPr>
            </a:lvl5pPr>
            <a:lvl6pPr>
              <a:defRPr sz="4800" b="1">
                <a:solidFill>
                  <a:srgbClr val="142E43"/>
                </a:solidFill>
                <a:latin typeface="Arial"/>
                <a:ea typeface="Arial"/>
                <a:cs typeface="Arial"/>
              </a:defRPr>
            </a:lvl6pPr>
            <a:lvl7pPr>
              <a:defRPr sz="4800" b="1">
                <a:solidFill>
                  <a:srgbClr val="142E43"/>
                </a:solidFill>
                <a:latin typeface="Arial"/>
                <a:ea typeface="Arial"/>
                <a:cs typeface="Arial"/>
              </a:defRPr>
            </a:lvl7pPr>
            <a:lvl8pPr>
              <a:defRPr sz="4800" b="1">
                <a:solidFill>
                  <a:srgbClr val="142E43"/>
                </a:solidFill>
                <a:latin typeface="Arial"/>
                <a:ea typeface="Arial"/>
                <a:cs typeface="Arial"/>
              </a:defRPr>
            </a:lvl8pPr>
            <a:lvl9pPr>
              <a:defRPr sz="4800" b="1">
                <a:solidFill>
                  <a:srgbClr val="142E43"/>
                </a:solidFill>
                <a:latin typeface="Arial"/>
                <a:ea typeface="Arial"/>
                <a:cs typeface="Arial"/>
              </a:defRPr>
            </a:lvl9pPr>
          </a:lstStyle>
          <a:p xmlns:a="http://schemas.openxmlformats.org/drawingml/2006/main">
            <a:pPr>
              <a:defRPr sz="4800" b="1">
                <a:solidFill>
                  <a:srgbClr val="142E43"/>
                </a:solidFill>
                <a:latin typeface="Arial"/>
                <a:ea typeface="Arial"/>
                <a:cs typeface="Arial"/>
              </a:defRPr>
            </a:pPr>
            <a:r>
              <a:rPr sz="4800" b="1">
                <a:solidFill>
                  <a:srgbClr val="142E43"/>
                </a:solidFill>
                <a:latin typeface="Arial"/>
                <a:ea typeface="Arial"/>
                <a:cs typeface="Arial"/>
              </a:rPr>
              <a:t>MonTi component</a:t>
            </a:r>
          </a:p>
          <a:p xmlns:a="http://schemas.openxmlformats.org/drawingml/2006/main">
            <a:pPr>
              <a:defRPr sz="4800" b="1">
                <a:solidFill>
                  <a:srgbClr val="142E43"/>
                </a:solidFill>
                <a:latin typeface="Arial"/>
                <a:ea typeface="Arial"/>
                <a:cs typeface="Arial"/>
              </a:defRPr>
            </a:pPr>
            <a:r>
              <a:rPr sz="4800" b="1">
                <a:solidFill>
                  <a:srgbClr val="142E43"/>
                </a:solidFill>
                <a:latin typeface="Arial"/>
                <a:ea typeface="Arial"/>
                <a:cs typeface="Arial"/>
              </a:rPr>
              <a:t>reproduction</a:t>
            </a:r>
          </a:p>
        </p:txBody>
      </p:sp>
      <p:sp>
        <p:nvSpPr>
          <p:cNvPr id="2" name="Validation diagnostics and proposed next steps">
            <a:extLst xmlns:a="http://schemas.openxmlformats.org/drawingml/2006/main">
              <a:ext uri="{FF2B5EF4-FFF2-40B4-BE49-F238E27FC236}">
                <a16:creationId xmlns:a16="http://schemas.microsoft.com/office/drawing/2014/main" id="{24D4960F-D49F-45D8-BEE5-4EA911ECCD07}"/>
              </a:ext>
            </a:extLst>
          </p:cNvPr>
          <p:cNvSpPr>
            <a:spLocks xmlns:a="http://schemas.openxmlformats.org/drawingml/2006/main" noGrp="1"/>
          </p:cNvSpPr>
          <p:nvPr/>
        </p:nvSpPr>
        <p:spPr>
          <a:xfrm xmlns:a="http://schemas.openxmlformats.org/drawingml/2006/main">
            <a:off x="609600" y="3143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42E43"/>
                </a:solidFill>
                <a:latin typeface="Arial"/>
                <a:ea typeface="Arial"/>
                <a:cs typeface="Arial"/>
              </a:defRPr>
            </a:defPPr>
            <a:lvl1pPr>
              <a:defRPr sz="2400" b="0">
                <a:solidFill>
                  <a:srgbClr val="142E43"/>
                </a:solidFill>
                <a:latin typeface="Arial"/>
                <a:ea typeface="Arial"/>
                <a:cs typeface="Arial"/>
              </a:defRPr>
            </a:lvl1pPr>
            <a:lvl2pPr>
              <a:defRPr sz="2400" b="0">
                <a:solidFill>
                  <a:srgbClr val="142E43"/>
                </a:solidFill>
                <a:latin typeface="Arial"/>
                <a:ea typeface="Arial"/>
                <a:cs typeface="Arial"/>
              </a:defRPr>
            </a:lvl2pPr>
            <a:lvl3pPr>
              <a:defRPr sz="2400" b="0">
                <a:solidFill>
                  <a:srgbClr val="142E43"/>
                </a:solidFill>
                <a:latin typeface="Arial"/>
                <a:ea typeface="Arial"/>
                <a:cs typeface="Arial"/>
              </a:defRPr>
            </a:lvl3pPr>
            <a:lvl4pPr>
              <a:defRPr sz="2400" b="0">
                <a:solidFill>
                  <a:srgbClr val="142E43"/>
                </a:solidFill>
                <a:latin typeface="Arial"/>
                <a:ea typeface="Arial"/>
                <a:cs typeface="Arial"/>
              </a:defRPr>
            </a:lvl4pPr>
            <a:lvl5pPr>
              <a:defRPr sz="2400" b="0">
                <a:solidFill>
                  <a:srgbClr val="142E43"/>
                </a:solidFill>
                <a:latin typeface="Arial"/>
                <a:ea typeface="Arial"/>
                <a:cs typeface="Arial"/>
              </a:defRPr>
            </a:lvl5pPr>
            <a:lvl6pPr>
              <a:defRPr sz="2400" b="0">
                <a:solidFill>
                  <a:srgbClr val="142E43"/>
                </a:solidFill>
                <a:latin typeface="Arial"/>
                <a:ea typeface="Arial"/>
                <a:cs typeface="Arial"/>
              </a:defRPr>
            </a:lvl6pPr>
            <a:lvl7pPr>
              <a:defRPr sz="2400" b="0">
                <a:solidFill>
                  <a:srgbClr val="142E43"/>
                </a:solidFill>
                <a:latin typeface="Arial"/>
                <a:ea typeface="Arial"/>
                <a:cs typeface="Arial"/>
              </a:defRPr>
            </a:lvl7pPr>
            <a:lvl8pPr>
              <a:defRPr sz="2400" b="0">
                <a:solidFill>
                  <a:srgbClr val="142E43"/>
                </a:solidFill>
                <a:latin typeface="Arial"/>
                <a:ea typeface="Arial"/>
                <a:cs typeface="Arial"/>
              </a:defRPr>
            </a:lvl8pPr>
            <a:lvl9pPr>
              <a:defRPr sz="2400" b="0">
                <a:solidFill>
                  <a:srgbClr val="142E43"/>
                </a:solidFill>
                <a:latin typeface="Arial"/>
                <a:ea typeface="Arial"/>
                <a:cs typeface="Arial"/>
              </a:defRPr>
            </a:lvl9pPr>
          </a:lstStyle>
          <a:p xmlns:a="http://schemas.openxmlformats.org/drawingml/2006/main">
            <a:pPr>
              <a:defRPr sz="2400" b="0">
                <a:solidFill>
                  <a:srgbClr val="142E43"/>
                </a:solidFill>
                <a:latin typeface="Arial"/>
                <a:ea typeface="Arial"/>
                <a:cs typeface="Arial"/>
              </a:defRPr>
            </a:pPr>
            <a:r>
              <a:rPr sz="2400" b="0">
                <a:solidFill>
                  <a:srgbClr val="142E43"/>
                </a:solidFill>
                <a:latin typeface="Arial"/>
                <a:ea typeface="Arial"/>
                <a:cs typeface="Arial"/>
              </a:rPr>
              <a:t>Validation diagnostics and proposed next steps</a:t>
            </a:r>
          </a:p>
        </p:txBody>
      </p:sp>
      <p:sp>
        <p:nvSpPr>
          <p:cNvPr id="3" name="Junyi Tang and Yifan Fan">
            <a:extLst xmlns:a="http://schemas.openxmlformats.org/drawingml/2006/main">
              <a:ext uri="{FF2B5EF4-FFF2-40B4-BE49-F238E27FC236}">
                <a16:creationId xmlns:a16="http://schemas.microsoft.com/office/drawing/2014/main" id="{B932AD52-35A2-4ABA-8E9D-DE39168F1A46}"/>
              </a:ext>
            </a:extLst>
          </p:cNvPr>
          <p:cNvSpPr>
            <a:spLocks xmlns:a="http://schemas.openxmlformats.org/drawingml/2006/main" noGrp="1"/>
          </p:cNvSpPr>
          <p:nvPr/>
        </p:nvSpPr>
        <p:spPr>
          <a:xfrm xmlns:a="http://schemas.openxmlformats.org/drawingml/2006/main">
            <a:off x="609600" y="4191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E43"/>
                </a:solidFill>
                <a:latin typeface="Arial"/>
                <a:ea typeface="Arial"/>
                <a:cs typeface="Arial"/>
              </a:defRPr>
            </a:defPPr>
            <a:lvl1pPr>
              <a:defRPr sz="2100" b="0">
                <a:solidFill>
                  <a:srgbClr val="142E43"/>
                </a:solidFill>
                <a:latin typeface="Arial"/>
                <a:ea typeface="Arial"/>
                <a:cs typeface="Arial"/>
              </a:defRPr>
            </a:lvl1pPr>
            <a:lvl2pPr>
              <a:defRPr sz="2100" b="0">
                <a:solidFill>
                  <a:srgbClr val="142E43"/>
                </a:solidFill>
                <a:latin typeface="Arial"/>
                <a:ea typeface="Arial"/>
                <a:cs typeface="Arial"/>
              </a:defRPr>
            </a:lvl2pPr>
            <a:lvl3pPr>
              <a:defRPr sz="2100" b="0">
                <a:solidFill>
                  <a:srgbClr val="142E43"/>
                </a:solidFill>
                <a:latin typeface="Arial"/>
                <a:ea typeface="Arial"/>
                <a:cs typeface="Arial"/>
              </a:defRPr>
            </a:lvl3pPr>
            <a:lvl4pPr>
              <a:defRPr sz="2100" b="0">
                <a:solidFill>
                  <a:srgbClr val="142E43"/>
                </a:solidFill>
                <a:latin typeface="Arial"/>
                <a:ea typeface="Arial"/>
                <a:cs typeface="Arial"/>
              </a:defRPr>
            </a:lvl4pPr>
            <a:lvl5pPr>
              <a:defRPr sz="2100" b="0">
                <a:solidFill>
                  <a:srgbClr val="142E43"/>
                </a:solidFill>
                <a:latin typeface="Arial"/>
                <a:ea typeface="Arial"/>
                <a:cs typeface="Arial"/>
              </a:defRPr>
            </a:lvl5pPr>
            <a:lvl6pPr>
              <a:defRPr sz="2100" b="0">
                <a:solidFill>
                  <a:srgbClr val="142E43"/>
                </a:solidFill>
                <a:latin typeface="Arial"/>
                <a:ea typeface="Arial"/>
                <a:cs typeface="Arial"/>
              </a:defRPr>
            </a:lvl6pPr>
            <a:lvl7pPr>
              <a:defRPr sz="2100" b="0">
                <a:solidFill>
                  <a:srgbClr val="142E43"/>
                </a:solidFill>
                <a:latin typeface="Arial"/>
                <a:ea typeface="Arial"/>
                <a:cs typeface="Arial"/>
              </a:defRPr>
            </a:lvl7pPr>
            <a:lvl8pPr>
              <a:defRPr sz="2100" b="0">
                <a:solidFill>
                  <a:srgbClr val="142E43"/>
                </a:solidFill>
                <a:latin typeface="Arial"/>
                <a:ea typeface="Arial"/>
                <a:cs typeface="Arial"/>
              </a:defRPr>
            </a:lvl8pPr>
            <a:lvl9pPr>
              <a:defRPr sz="2100" b="0">
                <a:solidFill>
                  <a:srgbClr val="142E43"/>
                </a:solidFill>
                <a:latin typeface="Arial"/>
                <a:ea typeface="Arial"/>
                <a:cs typeface="Arial"/>
              </a:defRPr>
            </a:lvl9pPr>
          </a:lstStyle>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Junyi Tang and Yifan Fan</a:t>
            </a:r>
          </a:p>
        </p:txBody>
      </p:sp>
      <p:sp>
        <p:nvSpPr>
          <p:cNvPr id="4" name="Draft evidence presentation&#10;31 October 2026. Final">
            <a:extLst xmlns:a="http://schemas.openxmlformats.org/drawingml/2006/main">
              <a:ext uri="{FF2B5EF4-FFF2-40B4-BE49-F238E27FC236}">
                <a16:creationId xmlns:a16="http://schemas.microsoft.com/office/drawing/2014/main" id="{59C1D365-44EE-4D83-96C1-FC23EA9E1FE5}"/>
              </a:ext>
            </a:extLst>
          </p:cNvPr>
          <p:cNvSpPr>
            <a:spLocks xmlns:a="http://schemas.openxmlformats.org/drawingml/2006/main" noGrp="1"/>
          </p:cNvSpPr>
          <p:nvPr/>
        </p:nvSpPr>
        <p:spPr>
          <a:xfrm xmlns:a="http://schemas.openxmlformats.org/drawingml/2006/main">
            <a:off x="609600" y="5286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Draft evidence presentation</a:t>
            </a:r>
          </a:p>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31 October 2026. Final improvement incomplete.</a:t>
            </a:r>
          </a:p>
        </p:txBody>
      </p:sp>
    </p:spTree>
    <p:extLst>
      <p:ext uri="{BB962C8B-B14F-4D97-AF65-F5344CB8AC3E}">
        <p14:creationId xmlns:p14="http://schemas.microsoft.com/office/powerpoint/2010/main" val="20939340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rozen comparison and metric">
            <a:extLst xmlns:a="http://schemas.openxmlformats.org/drawingml/2006/main">
              <a:ext uri="{FF2B5EF4-FFF2-40B4-BE49-F238E27FC236}">
                <a16:creationId xmlns:a16="http://schemas.microsoft.com/office/drawing/2014/main" id="{7725F28B-7978-4E03-8DE7-4A61552033C9}"/>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Frozen comparison and metric</a:t>
            </a:r>
          </a:p>
        </p:txBody>
      </p:sp>
      <p:sp>
        <p:nvSpPr>
          <p:cNvPr id="2" name="GossipCop-S split 0. Fixed GCN surrogate and GAGA ">
            <a:extLst xmlns:a="http://schemas.openxmlformats.org/drawingml/2006/main">
              <a:ext uri="{FF2B5EF4-FFF2-40B4-BE49-F238E27FC236}">
                <a16:creationId xmlns:a16="http://schemas.microsoft.com/office/drawing/2014/main" id="{DBF1421E-B86E-4213-93D4-A14EF0232422}"/>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GossipCop-S split 0. Fixed GCN surrogate and GAGA victim.</a:t>
            </a:r>
          </a:p>
        </p:txBody>
      </p:sp>
      <p:sp>
        <p:nvSpPr>
          <p:cNvPr id="3" name="2">
            <a:extLst xmlns:a="http://schemas.openxmlformats.org/drawingml/2006/main">
              <a:ext uri="{FF2B5EF4-FFF2-40B4-BE49-F238E27FC236}">
                <a16:creationId xmlns:a16="http://schemas.microsoft.com/office/drawing/2014/main" id="{5CE31277-A6C7-4530-9F76-0C552BF4D491}"/>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2</a:t>
            </a:r>
          </a:p>
        </p:txBody>
      </p:sp>
      <p:sp>
        <p:nvSpPr>
          <p:cNvPr id="4" name="Learned and uniform-random candidates&#10;Paired seeds">
            <a:extLst xmlns:a="http://schemas.openxmlformats.org/drawingml/2006/main">
              <a:ext uri="{FF2B5EF4-FFF2-40B4-BE49-F238E27FC236}">
                <a16:creationId xmlns:a16="http://schemas.microsoft.com/office/drawing/2014/main" id="{20FA303F-2196-4274-B511-BBADA70183DC}"/>
              </a:ext>
            </a:extLst>
          </p:cNvPr>
          <p:cNvSpPr>
            <a:spLocks xmlns:a="http://schemas.openxmlformats.org/drawingml/2006/main" noGrp="1"/>
          </p:cNvSpPr>
          <p:nvPr/>
        </p:nvSpPr>
        <p:spPr>
          <a:xfrm xmlns:a="http://schemas.openxmlformats.org/drawingml/2006/main">
            <a:off x="609600" y="219075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E43"/>
                </a:solidFill>
                <a:latin typeface="Arial"/>
                <a:ea typeface="Arial"/>
                <a:cs typeface="Arial"/>
              </a:defRPr>
            </a:defPPr>
            <a:lvl1pPr>
              <a:defRPr sz="2100" b="0">
                <a:solidFill>
                  <a:srgbClr val="142E43"/>
                </a:solidFill>
                <a:latin typeface="Arial"/>
                <a:ea typeface="Arial"/>
                <a:cs typeface="Arial"/>
              </a:defRPr>
            </a:lvl1pPr>
            <a:lvl2pPr>
              <a:defRPr sz="2100" b="0">
                <a:solidFill>
                  <a:srgbClr val="142E43"/>
                </a:solidFill>
                <a:latin typeface="Arial"/>
                <a:ea typeface="Arial"/>
                <a:cs typeface="Arial"/>
              </a:defRPr>
            </a:lvl2pPr>
            <a:lvl3pPr>
              <a:defRPr sz="2100" b="0">
                <a:solidFill>
                  <a:srgbClr val="142E43"/>
                </a:solidFill>
                <a:latin typeface="Arial"/>
                <a:ea typeface="Arial"/>
                <a:cs typeface="Arial"/>
              </a:defRPr>
            </a:lvl3pPr>
            <a:lvl4pPr>
              <a:defRPr sz="2100" b="0">
                <a:solidFill>
                  <a:srgbClr val="142E43"/>
                </a:solidFill>
                <a:latin typeface="Arial"/>
                <a:ea typeface="Arial"/>
                <a:cs typeface="Arial"/>
              </a:defRPr>
            </a:lvl4pPr>
            <a:lvl5pPr>
              <a:defRPr sz="2100" b="0">
                <a:solidFill>
                  <a:srgbClr val="142E43"/>
                </a:solidFill>
                <a:latin typeface="Arial"/>
                <a:ea typeface="Arial"/>
                <a:cs typeface="Arial"/>
              </a:defRPr>
            </a:lvl5pPr>
            <a:lvl6pPr>
              <a:defRPr sz="2100" b="0">
                <a:solidFill>
                  <a:srgbClr val="142E43"/>
                </a:solidFill>
                <a:latin typeface="Arial"/>
                <a:ea typeface="Arial"/>
                <a:cs typeface="Arial"/>
              </a:defRPr>
            </a:lvl6pPr>
            <a:lvl7pPr>
              <a:defRPr sz="2100" b="0">
                <a:solidFill>
                  <a:srgbClr val="142E43"/>
                </a:solidFill>
                <a:latin typeface="Arial"/>
                <a:ea typeface="Arial"/>
                <a:cs typeface="Arial"/>
              </a:defRPr>
            </a:lvl7pPr>
            <a:lvl8pPr>
              <a:defRPr sz="2100" b="0">
                <a:solidFill>
                  <a:srgbClr val="142E43"/>
                </a:solidFill>
                <a:latin typeface="Arial"/>
                <a:ea typeface="Arial"/>
                <a:cs typeface="Arial"/>
              </a:defRPr>
            </a:lvl8pPr>
            <a:lvl9pPr>
              <a:defRPr sz="2100" b="0">
                <a:solidFill>
                  <a:srgbClr val="142E43"/>
                </a:solidFill>
                <a:latin typeface="Arial"/>
                <a:ea typeface="Arial"/>
                <a:cs typeface="Arial"/>
              </a:defRPr>
            </a:lvl9pPr>
          </a:lstStyle>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Learned and uniform-random candidates</a:t>
            </a:r>
          </a:p>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Paired seeds 0, 1 and 2</a:t>
            </a:r>
          </a:p>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rho = 0.05   xi = 0.1   K = 128</a:t>
            </a:r>
          </a:p>
        </p:txBody>
      </p:sp>
      <p:graphicFrame>
        <p:nvGraphicFramePr>
          <p:cNvPr id="5" name="">
            <a:extLst xmlns:a="http://schemas.openxmlformats.org/drawingml/2006/main">
              <a:ext uri="{FF2B5EF4-FFF2-40B4-BE49-F238E27FC236}">
                <a16:creationId xmlns:a16="http://schemas.microsoft.com/office/drawing/2014/main" id="{1C0E850B-9779-41DF-8D32-1C7EA375573E}"/>
              </a:ext>
            </a:extLst>
          </p:cNvPr>
          <p:cNvGraphicFramePr/>
          <p:nvPr/>
        </p:nvGraphicFramePr>
        <p:xfrm>
          <a:off xmlns:a="http://schemas.openxmlformats.org/drawingml/2006/main" x="7239000" y="2095500"/>
          <a:ext xmlns:a="http://schemas.openxmlformats.org/drawingml/2006/main" cx="4343400" cy="2190750"/>
        </p:xfrm>
        <a:graphic xmlns:a="http://schemas.openxmlformats.org/drawingml/2006/main">
          <a:graphicData uri="http://schemas.openxmlformats.org/drawingml/2006/table">
            <a:tbl>
              <a:tblPr firstRow="1" bandRow="0"/>
              <a:tblGrid>
                <a:gridCol w="1714500"/>
                <a:gridCol w="1047750"/>
                <a:gridCol w="1581150"/>
              </a:tblGrid>
              <a:tr h="547688">
                <a:tc>
                  <a:txBody>
                    <a:bodyPr wrap="square" lIns="95250" tIns="57150" rIns="95250" bIns="57150">
                      <a:noAutofit/>
                    </a:bodyPr>
                    <a:lstStyle/>
                    <a:p>
                      <a:pPr algn="l"/>
                      <a:r>
                        <a:rPr sz="1575" b="1">
                          <a:solidFill>
                            <a:srgbClr val="142E43"/>
                          </a:solidFill>
                          <a:latin typeface="Arial"/>
                          <a:ea typeface="Arial"/>
                          <a:cs typeface="Arial"/>
                        </a:rPr>
                        <a:t>Split</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575" b="1">
                          <a:solidFill>
                            <a:srgbClr val="142E43"/>
                          </a:solidFill>
                          <a:latin typeface="Arial"/>
                          <a:ea typeface="Arial"/>
                          <a:cs typeface="Arial"/>
                        </a:rPr>
                        <a:t>Groups</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575" b="1">
                          <a:solidFill>
                            <a:srgbClr val="142E43"/>
                          </a:solidFill>
                          <a:latin typeface="Arial"/>
                          <a:ea typeface="Arial"/>
                          <a:cs typeface="Arial"/>
                        </a:rPr>
                        <a:t>Occurrences</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547688">
                <a:tc>
                  <a:txBody>
                    <a:bodyPr wrap="square" lIns="95250" tIns="57150" rIns="95250" bIns="57150">
                      <a:noAutofit/>
                    </a:bodyPr>
                    <a:lstStyle/>
                    <a:p>
                      <a:pPr algn="l"/>
                      <a:r>
                        <a:rPr sz="1650" b="0">
                          <a:solidFill>
                            <a:srgbClr val="142E43"/>
                          </a:solidFill>
                          <a:latin typeface="Arial"/>
                          <a:ea typeface="Arial"/>
                          <a:cs typeface="Arial"/>
                        </a:rPr>
                        <a:t>Train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650" b="0">
                          <a:solidFill>
                            <a:srgbClr val="142E43"/>
                          </a:solidFill>
                          <a:latin typeface="Arial"/>
                          <a:ea typeface="Arial"/>
                          <a:cs typeface="Arial"/>
                        </a:rPr>
                        <a:t>937</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650" b="0">
                          <a:solidFill>
                            <a:srgbClr val="142E43"/>
                          </a:solidFill>
                          <a:latin typeface="Arial"/>
                          <a:ea typeface="Arial"/>
                          <a:cs typeface="Arial"/>
                        </a:rPr>
                        <a:t>11,211</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47688">
                <a:tc>
                  <a:txBody>
                    <a:bodyPr wrap="square" lIns="95250" tIns="57150" rIns="95250" bIns="57150">
                      <a:noAutofit/>
                    </a:bodyPr>
                    <a:lstStyle/>
                    <a:p>
                      <a:pPr algn="l"/>
                      <a:r>
                        <a:rPr sz="1650" b="0">
                          <a:solidFill>
                            <a:srgbClr val="142E43"/>
                          </a:solidFill>
                          <a:latin typeface="Arial"/>
                          <a:ea typeface="Arial"/>
                          <a:cs typeface="Arial"/>
                        </a:rPr>
                        <a:t>Validation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650" b="0">
                          <a:solidFill>
                            <a:srgbClr val="142E43"/>
                          </a:solidFill>
                          <a:latin typeface="Arial"/>
                          <a:ea typeface="Arial"/>
                          <a:cs typeface="Arial"/>
                        </a:rPr>
                        <a:t>592</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650" b="0">
                          <a:solidFill>
                            <a:srgbClr val="142E43"/>
                          </a:solidFill>
                          <a:latin typeface="Arial"/>
                          <a:ea typeface="Arial"/>
                          <a:cs typeface="Arial"/>
                        </a:rPr>
                        <a:t>4,963</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547688">
                <a:tc>
                  <a:txBody>
                    <a:bodyPr wrap="square" lIns="95250" tIns="57150" rIns="95250" bIns="57150">
                      <a:noAutofit/>
                    </a:bodyPr>
                    <a:lstStyle/>
                    <a:p>
                      <a:pPr algn="l"/>
                      <a:r>
                        <a:rPr sz="1650" b="0">
                          <a:solidFill>
                            <a:srgbClr val="142E43"/>
                          </a:solidFill>
                          <a:latin typeface="Arial"/>
                          <a:ea typeface="Arial"/>
                          <a:cs typeface="Arial"/>
                        </a:rPr>
                        <a:t>Test</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650" b="0">
                          <a:solidFill>
                            <a:srgbClr val="142E43"/>
                          </a:solidFill>
                          <a:latin typeface="Arial"/>
                          <a:ea typeface="Arial"/>
                          <a:cs typeface="Arial"/>
                        </a:rPr>
                        <a:t>909</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650" b="0">
                          <a:solidFill>
                            <a:srgbClr val="142E43"/>
                          </a:solidFill>
                          <a:latin typeface="Arial"/>
                          <a:ea typeface="Arial"/>
                          <a:cs typeface="Arial"/>
                        </a:rPr>
                        <a:t>10,515</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6" name="MR counts target occurrences">
            <a:extLst xmlns:a="http://schemas.openxmlformats.org/drawingml/2006/main">
              <a:ext uri="{FF2B5EF4-FFF2-40B4-BE49-F238E27FC236}">
                <a16:creationId xmlns:a16="http://schemas.microsoft.com/office/drawing/2014/main" id="{AB266046-621F-40C8-916D-174DCB3F8419}"/>
              </a:ext>
            </a:extLst>
          </p:cNvPr>
          <p:cNvSpPr>
            <a:spLocks xmlns:a="http://schemas.openxmlformats.org/drawingml/2006/main" noGrp="1"/>
          </p:cNvSpPr>
          <p:nvPr/>
        </p:nvSpPr>
        <p:spPr>
          <a:xfrm xmlns:a="http://schemas.openxmlformats.org/drawingml/2006/main">
            <a:off x="609600" y="41910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2E43"/>
                </a:solidFill>
                <a:latin typeface="Arial"/>
                <a:ea typeface="Arial"/>
                <a:cs typeface="Arial"/>
              </a:defRPr>
            </a:defPPr>
            <a:lvl1pPr>
              <a:defRPr sz="2400" b="1">
                <a:solidFill>
                  <a:srgbClr val="142E43"/>
                </a:solidFill>
                <a:latin typeface="Arial"/>
                <a:ea typeface="Arial"/>
                <a:cs typeface="Arial"/>
              </a:defRPr>
            </a:lvl1pPr>
            <a:lvl2pPr>
              <a:defRPr sz="2400" b="1">
                <a:solidFill>
                  <a:srgbClr val="142E43"/>
                </a:solidFill>
                <a:latin typeface="Arial"/>
                <a:ea typeface="Arial"/>
                <a:cs typeface="Arial"/>
              </a:defRPr>
            </a:lvl2pPr>
            <a:lvl3pPr>
              <a:defRPr sz="2400" b="1">
                <a:solidFill>
                  <a:srgbClr val="142E43"/>
                </a:solidFill>
                <a:latin typeface="Arial"/>
                <a:ea typeface="Arial"/>
                <a:cs typeface="Arial"/>
              </a:defRPr>
            </a:lvl3pPr>
            <a:lvl4pPr>
              <a:defRPr sz="2400" b="1">
                <a:solidFill>
                  <a:srgbClr val="142E43"/>
                </a:solidFill>
                <a:latin typeface="Arial"/>
                <a:ea typeface="Arial"/>
                <a:cs typeface="Arial"/>
              </a:defRPr>
            </a:lvl4pPr>
            <a:lvl5pPr>
              <a:defRPr sz="2400" b="1">
                <a:solidFill>
                  <a:srgbClr val="142E43"/>
                </a:solidFill>
                <a:latin typeface="Arial"/>
                <a:ea typeface="Arial"/>
                <a:cs typeface="Arial"/>
              </a:defRPr>
            </a:lvl5pPr>
            <a:lvl6pPr>
              <a:defRPr sz="2400" b="1">
                <a:solidFill>
                  <a:srgbClr val="142E43"/>
                </a:solidFill>
                <a:latin typeface="Arial"/>
                <a:ea typeface="Arial"/>
                <a:cs typeface="Arial"/>
              </a:defRPr>
            </a:lvl6pPr>
            <a:lvl7pPr>
              <a:defRPr sz="2400" b="1">
                <a:solidFill>
                  <a:srgbClr val="142E43"/>
                </a:solidFill>
                <a:latin typeface="Arial"/>
                <a:ea typeface="Arial"/>
                <a:cs typeface="Arial"/>
              </a:defRPr>
            </a:lvl7pPr>
            <a:lvl8pPr>
              <a:defRPr sz="2400" b="1">
                <a:solidFill>
                  <a:srgbClr val="142E43"/>
                </a:solidFill>
                <a:latin typeface="Arial"/>
                <a:ea typeface="Arial"/>
                <a:cs typeface="Arial"/>
              </a:defRPr>
            </a:lvl8pPr>
            <a:lvl9pPr>
              <a:defRPr sz="2400" b="1">
                <a:solidFill>
                  <a:srgbClr val="142E43"/>
                </a:solidFill>
                <a:latin typeface="Arial"/>
                <a:ea typeface="Arial"/>
                <a:cs typeface="Arial"/>
              </a:defRPr>
            </a:lvl9pPr>
          </a:lstStyle>
          <a:p xmlns:a="http://schemas.openxmlformats.org/drawingml/2006/main">
            <a:pPr>
              <a:defRPr sz="2400" b="1">
                <a:solidFill>
                  <a:srgbClr val="142E43"/>
                </a:solidFill>
                <a:latin typeface="Arial"/>
                <a:ea typeface="Arial"/>
                <a:cs typeface="Arial"/>
              </a:defRPr>
            </a:pPr>
            <a:r>
              <a:rPr sz="2400" b="1">
                <a:solidFill>
                  <a:srgbClr val="142E43"/>
                </a:solidFill>
                <a:latin typeface="Arial"/>
                <a:ea typeface="Arial"/>
                <a:cs typeface="Arial"/>
              </a:rPr>
              <a:t>MR counts target occurrences</a:t>
            </a:r>
          </a:p>
        </p:txBody>
      </p:sp>
      <p:sp>
        <p:nvSpPr>
          <p:cNvPr id="7" name="Known answer: 1 error across groups of size 1 and ">
            <a:extLst xmlns:a="http://schemas.openxmlformats.org/drawingml/2006/main">
              <a:ext uri="{FF2B5EF4-FFF2-40B4-BE49-F238E27FC236}">
                <a16:creationId xmlns:a16="http://schemas.microsoft.com/office/drawing/2014/main" id="{1A08B524-2A23-4678-A83E-FDE5537BCBBE}"/>
              </a:ext>
            </a:extLst>
          </p:cNvPr>
          <p:cNvSpPr>
            <a:spLocks xmlns:a="http://schemas.openxmlformats.org/drawingml/2006/main" noGrp="1"/>
          </p:cNvSpPr>
          <p:nvPr/>
        </p:nvSpPr>
        <p:spPr>
          <a:xfrm xmlns:a="http://schemas.openxmlformats.org/drawingml/2006/main">
            <a:off x="609600" y="47910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E43"/>
                </a:solidFill>
                <a:latin typeface="Arial"/>
                <a:ea typeface="Arial"/>
                <a:cs typeface="Arial"/>
              </a:defRPr>
            </a:defPPr>
            <a:lvl1pPr>
              <a:defRPr sz="2025" b="0">
                <a:solidFill>
                  <a:srgbClr val="142E43"/>
                </a:solidFill>
                <a:latin typeface="Arial"/>
                <a:ea typeface="Arial"/>
                <a:cs typeface="Arial"/>
              </a:defRPr>
            </a:lvl1pPr>
            <a:lvl2pPr>
              <a:defRPr sz="2025" b="0">
                <a:solidFill>
                  <a:srgbClr val="142E43"/>
                </a:solidFill>
                <a:latin typeface="Arial"/>
                <a:ea typeface="Arial"/>
                <a:cs typeface="Arial"/>
              </a:defRPr>
            </a:lvl2pPr>
            <a:lvl3pPr>
              <a:defRPr sz="2025" b="0">
                <a:solidFill>
                  <a:srgbClr val="142E43"/>
                </a:solidFill>
                <a:latin typeface="Arial"/>
                <a:ea typeface="Arial"/>
                <a:cs typeface="Arial"/>
              </a:defRPr>
            </a:lvl3pPr>
            <a:lvl4pPr>
              <a:defRPr sz="2025" b="0">
                <a:solidFill>
                  <a:srgbClr val="142E43"/>
                </a:solidFill>
                <a:latin typeface="Arial"/>
                <a:ea typeface="Arial"/>
                <a:cs typeface="Arial"/>
              </a:defRPr>
            </a:lvl4pPr>
            <a:lvl5pPr>
              <a:defRPr sz="2025" b="0">
                <a:solidFill>
                  <a:srgbClr val="142E43"/>
                </a:solidFill>
                <a:latin typeface="Arial"/>
                <a:ea typeface="Arial"/>
                <a:cs typeface="Arial"/>
              </a:defRPr>
            </a:lvl5pPr>
            <a:lvl6pPr>
              <a:defRPr sz="2025" b="0">
                <a:solidFill>
                  <a:srgbClr val="142E43"/>
                </a:solidFill>
                <a:latin typeface="Arial"/>
                <a:ea typeface="Arial"/>
                <a:cs typeface="Arial"/>
              </a:defRPr>
            </a:lvl6pPr>
            <a:lvl7pPr>
              <a:defRPr sz="2025" b="0">
                <a:solidFill>
                  <a:srgbClr val="142E43"/>
                </a:solidFill>
                <a:latin typeface="Arial"/>
                <a:ea typeface="Arial"/>
                <a:cs typeface="Arial"/>
              </a:defRPr>
            </a:lvl7pPr>
            <a:lvl8pPr>
              <a:defRPr sz="2025" b="0">
                <a:solidFill>
                  <a:srgbClr val="142E43"/>
                </a:solidFill>
                <a:latin typeface="Arial"/>
                <a:ea typeface="Arial"/>
                <a:cs typeface="Arial"/>
              </a:defRPr>
            </a:lvl8pPr>
            <a:lvl9pPr>
              <a:defRPr sz="2025" b="0">
                <a:solidFill>
                  <a:srgbClr val="142E43"/>
                </a:solidFill>
                <a:latin typeface="Arial"/>
                <a:ea typeface="Arial"/>
                <a:cs typeface="Arial"/>
              </a:defRPr>
            </a:lvl9pPr>
          </a:lstStyle>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Known answer: 1 error across groups of size 1 and 3 gives 25% MR.</a:t>
            </a:r>
          </a:p>
        </p:txBody>
      </p:sp>
      <p:sp>
        <p:nvSpPr>
          <p:cNvPr id="8" name="Higher MR means a stronger attack. Overlapping occ">
            <a:extLst xmlns:a="http://schemas.openxmlformats.org/drawingml/2006/main">
              <a:ext uri="{FF2B5EF4-FFF2-40B4-BE49-F238E27FC236}">
                <a16:creationId xmlns:a16="http://schemas.microsoft.com/office/drawing/2014/main" id="{6A946F1E-F7C8-4EFA-9CFD-1FE7F4EB2781}"/>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Higher MR means a stronger attack. Overlapping occurrences are not independent seeds.</a:t>
            </a:r>
          </a:p>
        </p:txBody>
      </p:sp>
    </p:spTree>
    <p:extLst>
      <p:ext uri="{BB962C8B-B14F-4D97-AF65-F5344CB8AC3E}">
        <p14:creationId xmlns:p14="http://schemas.microsoft.com/office/powerpoint/2010/main" val="13044527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aseline conclusion is inconclusive">
            <a:extLst xmlns:a="http://schemas.openxmlformats.org/drawingml/2006/main">
              <a:ext uri="{FF2B5EF4-FFF2-40B4-BE49-F238E27FC236}">
                <a16:creationId xmlns:a16="http://schemas.microsoft.com/office/drawing/2014/main" id="{2ED36FC0-A7BE-4490-BA63-56A87A9571E2}"/>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Baseline conclusion is inconclusive</a:t>
            </a:r>
          </a:p>
        </p:txBody>
      </p:sp>
      <p:sp>
        <p:nvSpPr>
          <p:cNvPr id="2" name="Attacked GAGA MR, three paired training seeds">
            <a:extLst xmlns:a="http://schemas.openxmlformats.org/drawingml/2006/main">
              <a:ext uri="{FF2B5EF4-FFF2-40B4-BE49-F238E27FC236}">
                <a16:creationId xmlns:a16="http://schemas.microsoft.com/office/drawing/2014/main" id="{F98AAB3F-9276-433F-82CD-311A6D6A86AE}"/>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Attacked GAGA MR, three paired training seeds</a:t>
            </a:r>
          </a:p>
        </p:txBody>
      </p:sp>
      <p:sp>
        <p:nvSpPr>
          <p:cNvPr id="3" name="3">
            <a:extLst xmlns:a="http://schemas.openxmlformats.org/drawingml/2006/main">
              <a:ext uri="{FF2B5EF4-FFF2-40B4-BE49-F238E27FC236}">
                <a16:creationId xmlns:a16="http://schemas.microsoft.com/office/drawing/2014/main" id="{C95AABAC-A8BE-4982-919E-1F1F9A96BEF2}"/>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3</a:t>
            </a:r>
          </a:p>
        </p:txBody>
      </p:sp>
      <p:graphicFrame>
        <p:nvGraphicFramePr>
          <p:cNvPr id="4" name="Chart">
            <a:extLst xmlns:a="http://schemas.openxmlformats.org/drawingml/2006/main">
              <a:ext uri="{FF2B5EF4-FFF2-40B4-BE49-F238E27FC236}">
                <a16:creationId xmlns:a16="http://schemas.microsoft.com/office/drawing/2014/main" id="{0625DD1B-9758-444A-BE19-D59B24533101}"/>
              </a:ext>
            </a:extLst>
          </p:cNvPr>
          <p:cNvGraphicFramePr/>
          <p:nvPr/>
        </p:nvGraphicFramePr>
        <p:xfrm>
          <a:off xmlns:a="http://schemas.openxmlformats.org/drawingml/2006/main" x="609600" y="2000250"/>
          <a:ext xmlns:a="http://schemas.openxmlformats.org/drawingml/2006/main" cx="7048500" cy="3429000"/>
        </p:xfrm>
        <a:graphic xmlns:a="http://schemas.openxmlformats.org/drawingml/2006/main">
          <a:graphicData uri="http://schemas.openxmlformats.org/drawingml/2006/chart">
            <c:chart xmlns:r="http://schemas.openxmlformats.org/officeDocument/2006/relationships" xmlns:c="http://schemas.openxmlformats.org/drawingml/2006/chart" r:id="R592bb34ad7144090"/>
          </a:graphicData>
        </a:graphic>
      </p:graphicFrame>
      <p:sp>
        <p:nvSpPr>
          <p:cNvPr id="5" name="+3.5378 pp">
            <a:extLst xmlns:a="http://schemas.openxmlformats.org/drawingml/2006/main">
              <a:ext uri="{FF2B5EF4-FFF2-40B4-BE49-F238E27FC236}">
                <a16:creationId xmlns:a16="http://schemas.microsoft.com/office/drawing/2014/main" id="{FE6E186D-1988-43CA-AEC1-D98845EEAF65}"/>
              </a:ext>
            </a:extLst>
          </p:cNvPr>
          <p:cNvSpPr>
            <a:spLocks xmlns:a="http://schemas.openxmlformats.org/drawingml/2006/main" noGrp="1"/>
          </p:cNvSpPr>
          <p:nvPr/>
        </p:nvSpPr>
        <p:spPr>
          <a:xfrm xmlns:a="http://schemas.openxmlformats.org/drawingml/2006/main">
            <a:off x="8096250" y="2095500"/>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6DA8"/>
                </a:solidFill>
                <a:latin typeface="Arial"/>
                <a:ea typeface="Arial"/>
                <a:cs typeface="Arial"/>
              </a:defRPr>
            </a:defPPr>
            <a:lvl1pPr>
              <a:defRPr sz="3450" b="1">
                <a:solidFill>
                  <a:srgbClr val="206DA8"/>
                </a:solidFill>
                <a:latin typeface="Arial"/>
                <a:ea typeface="Arial"/>
                <a:cs typeface="Arial"/>
              </a:defRPr>
            </a:lvl1pPr>
            <a:lvl2pPr>
              <a:defRPr sz="3450" b="1">
                <a:solidFill>
                  <a:srgbClr val="206DA8"/>
                </a:solidFill>
                <a:latin typeface="Arial"/>
                <a:ea typeface="Arial"/>
                <a:cs typeface="Arial"/>
              </a:defRPr>
            </a:lvl2pPr>
            <a:lvl3pPr>
              <a:defRPr sz="3450" b="1">
                <a:solidFill>
                  <a:srgbClr val="206DA8"/>
                </a:solidFill>
                <a:latin typeface="Arial"/>
                <a:ea typeface="Arial"/>
                <a:cs typeface="Arial"/>
              </a:defRPr>
            </a:lvl3pPr>
            <a:lvl4pPr>
              <a:defRPr sz="3450" b="1">
                <a:solidFill>
                  <a:srgbClr val="206DA8"/>
                </a:solidFill>
                <a:latin typeface="Arial"/>
                <a:ea typeface="Arial"/>
                <a:cs typeface="Arial"/>
              </a:defRPr>
            </a:lvl4pPr>
            <a:lvl5pPr>
              <a:defRPr sz="3450" b="1">
                <a:solidFill>
                  <a:srgbClr val="206DA8"/>
                </a:solidFill>
                <a:latin typeface="Arial"/>
                <a:ea typeface="Arial"/>
                <a:cs typeface="Arial"/>
              </a:defRPr>
            </a:lvl5pPr>
            <a:lvl6pPr>
              <a:defRPr sz="3450" b="1">
                <a:solidFill>
                  <a:srgbClr val="206DA8"/>
                </a:solidFill>
                <a:latin typeface="Arial"/>
                <a:ea typeface="Arial"/>
                <a:cs typeface="Arial"/>
              </a:defRPr>
            </a:lvl6pPr>
            <a:lvl7pPr>
              <a:defRPr sz="3450" b="1">
                <a:solidFill>
                  <a:srgbClr val="206DA8"/>
                </a:solidFill>
                <a:latin typeface="Arial"/>
                <a:ea typeface="Arial"/>
                <a:cs typeface="Arial"/>
              </a:defRPr>
            </a:lvl7pPr>
            <a:lvl8pPr>
              <a:defRPr sz="3450" b="1">
                <a:solidFill>
                  <a:srgbClr val="206DA8"/>
                </a:solidFill>
                <a:latin typeface="Arial"/>
                <a:ea typeface="Arial"/>
                <a:cs typeface="Arial"/>
              </a:defRPr>
            </a:lvl8pPr>
            <a:lvl9pPr>
              <a:defRPr sz="3450" b="1">
                <a:solidFill>
                  <a:srgbClr val="206DA8"/>
                </a:solidFill>
                <a:latin typeface="Arial"/>
                <a:ea typeface="Arial"/>
                <a:cs typeface="Arial"/>
              </a:defRPr>
            </a:lvl9pPr>
          </a:lstStyle>
          <a:p xmlns:a="http://schemas.openxmlformats.org/drawingml/2006/main">
            <a:pPr>
              <a:defRPr sz="3450" b="1">
                <a:solidFill>
                  <a:srgbClr val="206DA8"/>
                </a:solidFill>
                <a:latin typeface="Arial"/>
                <a:ea typeface="Arial"/>
                <a:cs typeface="Arial"/>
              </a:defRPr>
            </a:pPr>
            <a:r>
              <a:rPr sz="3450" b="1">
                <a:solidFill>
                  <a:srgbClr val="206DA8"/>
                </a:solidFill>
                <a:latin typeface="Arial"/>
                <a:ea typeface="Arial"/>
                <a:cs typeface="Arial"/>
              </a:rPr>
              <a:t>+3.5378 pp</a:t>
            </a:r>
          </a:p>
        </p:txBody>
      </p:sp>
      <p:sp>
        <p:nvSpPr>
          <p:cNvPr id="6" name="Paired mean difference">
            <a:extLst xmlns:a="http://schemas.openxmlformats.org/drawingml/2006/main">
              <a:ext uri="{FF2B5EF4-FFF2-40B4-BE49-F238E27FC236}">
                <a16:creationId xmlns:a16="http://schemas.microsoft.com/office/drawing/2014/main" id="{D070BD2F-7044-47CF-B2D9-F1B29C98ED9C}"/>
              </a:ext>
            </a:extLst>
          </p:cNvPr>
          <p:cNvSpPr>
            <a:spLocks xmlns:a="http://schemas.openxmlformats.org/drawingml/2006/main" noGrp="1"/>
          </p:cNvSpPr>
          <p:nvPr/>
        </p:nvSpPr>
        <p:spPr>
          <a:xfrm xmlns:a="http://schemas.openxmlformats.org/drawingml/2006/main">
            <a:off x="8096250" y="28575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42E43"/>
                </a:solidFill>
                <a:latin typeface="Arial"/>
                <a:ea typeface="Arial"/>
                <a:cs typeface="Arial"/>
              </a:defRPr>
            </a:defPPr>
            <a:lvl1pPr>
              <a:defRPr sz="1875" b="0">
                <a:solidFill>
                  <a:srgbClr val="142E43"/>
                </a:solidFill>
                <a:latin typeface="Arial"/>
                <a:ea typeface="Arial"/>
                <a:cs typeface="Arial"/>
              </a:defRPr>
            </a:lvl1pPr>
            <a:lvl2pPr>
              <a:defRPr sz="1875" b="0">
                <a:solidFill>
                  <a:srgbClr val="142E43"/>
                </a:solidFill>
                <a:latin typeface="Arial"/>
                <a:ea typeface="Arial"/>
                <a:cs typeface="Arial"/>
              </a:defRPr>
            </a:lvl2pPr>
            <a:lvl3pPr>
              <a:defRPr sz="1875" b="0">
                <a:solidFill>
                  <a:srgbClr val="142E43"/>
                </a:solidFill>
                <a:latin typeface="Arial"/>
                <a:ea typeface="Arial"/>
                <a:cs typeface="Arial"/>
              </a:defRPr>
            </a:lvl3pPr>
            <a:lvl4pPr>
              <a:defRPr sz="1875" b="0">
                <a:solidFill>
                  <a:srgbClr val="142E43"/>
                </a:solidFill>
                <a:latin typeface="Arial"/>
                <a:ea typeface="Arial"/>
                <a:cs typeface="Arial"/>
              </a:defRPr>
            </a:lvl4pPr>
            <a:lvl5pPr>
              <a:defRPr sz="1875" b="0">
                <a:solidFill>
                  <a:srgbClr val="142E43"/>
                </a:solidFill>
                <a:latin typeface="Arial"/>
                <a:ea typeface="Arial"/>
                <a:cs typeface="Arial"/>
              </a:defRPr>
            </a:lvl5pPr>
            <a:lvl6pPr>
              <a:defRPr sz="1875" b="0">
                <a:solidFill>
                  <a:srgbClr val="142E43"/>
                </a:solidFill>
                <a:latin typeface="Arial"/>
                <a:ea typeface="Arial"/>
                <a:cs typeface="Arial"/>
              </a:defRPr>
            </a:lvl6pPr>
            <a:lvl7pPr>
              <a:defRPr sz="1875" b="0">
                <a:solidFill>
                  <a:srgbClr val="142E43"/>
                </a:solidFill>
                <a:latin typeface="Arial"/>
                <a:ea typeface="Arial"/>
                <a:cs typeface="Arial"/>
              </a:defRPr>
            </a:lvl7pPr>
            <a:lvl8pPr>
              <a:defRPr sz="1875" b="0">
                <a:solidFill>
                  <a:srgbClr val="142E43"/>
                </a:solidFill>
                <a:latin typeface="Arial"/>
                <a:ea typeface="Arial"/>
                <a:cs typeface="Arial"/>
              </a:defRPr>
            </a:lvl8pPr>
            <a:lvl9pPr>
              <a:defRPr sz="1875" b="0">
                <a:solidFill>
                  <a:srgbClr val="142E43"/>
                </a:solidFill>
                <a:latin typeface="Arial"/>
                <a:ea typeface="Arial"/>
                <a:cs typeface="Arial"/>
              </a:defRPr>
            </a:lvl9pPr>
          </a:lstStyle>
          <a:p xmlns:a="http://schemas.openxmlformats.org/drawingml/2006/main">
            <a:pPr>
              <a:defRPr sz="1875" b="0">
                <a:solidFill>
                  <a:srgbClr val="142E43"/>
                </a:solidFill>
                <a:latin typeface="Arial"/>
                <a:ea typeface="Arial"/>
                <a:cs typeface="Arial"/>
              </a:defRPr>
            </a:pPr>
            <a:r>
              <a:rPr sz="1875" b="0">
                <a:solidFill>
                  <a:srgbClr val="142E43"/>
                </a:solidFill>
                <a:latin typeface="Arial"/>
                <a:ea typeface="Arial"/>
                <a:cs typeface="Arial"/>
              </a:rPr>
              <a:t>Paired mean difference</a:t>
            </a:r>
          </a:p>
        </p:txBody>
      </p:sp>
      <p:sp>
        <p:nvSpPr>
          <p:cNvPr id="7" name="95% CI (pp)&#10;[-1.5415, 8.6171]">
            <a:extLst xmlns:a="http://schemas.openxmlformats.org/drawingml/2006/main">
              <a:ext uri="{FF2B5EF4-FFF2-40B4-BE49-F238E27FC236}">
                <a16:creationId xmlns:a16="http://schemas.microsoft.com/office/drawing/2014/main" id="{D48675EE-4194-4EF5-A054-4A73F0663A83}"/>
              </a:ext>
            </a:extLst>
          </p:cNvPr>
          <p:cNvSpPr>
            <a:spLocks xmlns:a="http://schemas.openxmlformats.org/drawingml/2006/main" noGrp="1"/>
          </p:cNvSpPr>
          <p:nvPr/>
        </p:nvSpPr>
        <p:spPr>
          <a:xfrm xmlns:a="http://schemas.openxmlformats.org/drawingml/2006/main">
            <a:off x="8096250" y="3476625"/>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2E43"/>
                </a:solidFill>
                <a:latin typeface="Arial"/>
                <a:ea typeface="Arial"/>
                <a:cs typeface="Arial"/>
              </a:defRPr>
            </a:defPPr>
            <a:lvl1pPr>
              <a:defRPr sz="2175" b="1">
                <a:solidFill>
                  <a:srgbClr val="142E43"/>
                </a:solidFill>
                <a:latin typeface="Arial"/>
                <a:ea typeface="Arial"/>
                <a:cs typeface="Arial"/>
              </a:defRPr>
            </a:lvl1pPr>
            <a:lvl2pPr>
              <a:defRPr sz="2175" b="1">
                <a:solidFill>
                  <a:srgbClr val="142E43"/>
                </a:solidFill>
                <a:latin typeface="Arial"/>
                <a:ea typeface="Arial"/>
                <a:cs typeface="Arial"/>
              </a:defRPr>
            </a:lvl2pPr>
            <a:lvl3pPr>
              <a:defRPr sz="2175" b="1">
                <a:solidFill>
                  <a:srgbClr val="142E43"/>
                </a:solidFill>
                <a:latin typeface="Arial"/>
                <a:ea typeface="Arial"/>
                <a:cs typeface="Arial"/>
              </a:defRPr>
            </a:lvl3pPr>
            <a:lvl4pPr>
              <a:defRPr sz="2175" b="1">
                <a:solidFill>
                  <a:srgbClr val="142E43"/>
                </a:solidFill>
                <a:latin typeface="Arial"/>
                <a:ea typeface="Arial"/>
                <a:cs typeface="Arial"/>
              </a:defRPr>
            </a:lvl4pPr>
            <a:lvl5pPr>
              <a:defRPr sz="2175" b="1">
                <a:solidFill>
                  <a:srgbClr val="142E43"/>
                </a:solidFill>
                <a:latin typeface="Arial"/>
                <a:ea typeface="Arial"/>
                <a:cs typeface="Arial"/>
              </a:defRPr>
            </a:lvl5pPr>
            <a:lvl6pPr>
              <a:defRPr sz="2175" b="1">
                <a:solidFill>
                  <a:srgbClr val="142E43"/>
                </a:solidFill>
                <a:latin typeface="Arial"/>
                <a:ea typeface="Arial"/>
                <a:cs typeface="Arial"/>
              </a:defRPr>
            </a:lvl6pPr>
            <a:lvl7pPr>
              <a:defRPr sz="2175" b="1">
                <a:solidFill>
                  <a:srgbClr val="142E43"/>
                </a:solidFill>
                <a:latin typeface="Arial"/>
                <a:ea typeface="Arial"/>
                <a:cs typeface="Arial"/>
              </a:defRPr>
            </a:lvl7pPr>
            <a:lvl8pPr>
              <a:defRPr sz="2175" b="1">
                <a:solidFill>
                  <a:srgbClr val="142E43"/>
                </a:solidFill>
                <a:latin typeface="Arial"/>
                <a:ea typeface="Arial"/>
                <a:cs typeface="Arial"/>
              </a:defRPr>
            </a:lvl8pPr>
            <a:lvl9pPr>
              <a:defRPr sz="2175" b="1">
                <a:solidFill>
                  <a:srgbClr val="142E43"/>
                </a:solidFill>
                <a:latin typeface="Arial"/>
                <a:ea typeface="Arial"/>
                <a:cs typeface="Arial"/>
              </a:defRPr>
            </a:lvl9pPr>
          </a:lstStyle>
          <a:p xmlns:a="http://schemas.openxmlformats.org/drawingml/2006/main">
            <a:pPr>
              <a:defRPr sz="2175" b="1">
                <a:solidFill>
                  <a:srgbClr val="142E43"/>
                </a:solidFill>
                <a:latin typeface="Arial"/>
                <a:ea typeface="Arial"/>
                <a:cs typeface="Arial"/>
              </a:defRPr>
            </a:pPr>
            <a:r>
              <a:rPr sz="2175" b="1">
                <a:solidFill>
                  <a:srgbClr val="142E43"/>
                </a:solidFill>
                <a:latin typeface="Arial"/>
                <a:ea typeface="Arial"/>
                <a:cs typeface="Arial"/>
              </a:rPr>
              <a:t>95% CI (pp)</a:t>
            </a:r>
          </a:p>
          <a:p xmlns:a="http://schemas.openxmlformats.org/drawingml/2006/main">
            <a:pPr>
              <a:defRPr sz="2175" b="1">
                <a:solidFill>
                  <a:srgbClr val="142E43"/>
                </a:solidFill>
                <a:latin typeface="Arial"/>
                <a:ea typeface="Arial"/>
                <a:cs typeface="Arial"/>
              </a:defRPr>
            </a:pPr>
            <a:r>
              <a:rPr sz="2175" b="1">
                <a:solidFill>
                  <a:srgbClr val="142E43"/>
                </a:solidFill>
                <a:latin typeface="Arial"/>
                <a:ea typeface="Arial"/>
                <a:cs typeface="Arial"/>
              </a:rPr>
              <a:t>[-1.5415, 8.6171]</a:t>
            </a:r>
          </a:p>
        </p:txBody>
      </p:sp>
      <p:sp>
        <p:nvSpPr>
          <p:cNvPr id="8" name="Paired t, df = 2">
            <a:extLst xmlns:a="http://schemas.openxmlformats.org/drawingml/2006/main">
              <a:ext uri="{FF2B5EF4-FFF2-40B4-BE49-F238E27FC236}">
                <a16:creationId xmlns:a16="http://schemas.microsoft.com/office/drawing/2014/main" id="{A552EE1A-4F91-4026-A331-16CB31412A11}"/>
              </a:ext>
            </a:extLst>
          </p:cNvPr>
          <p:cNvSpPr>
            <a:spLocks xmlns:a="http://schemas.openxmlformats.org/drawingml/2006/main" noGrp="1"/>
          </p:cNvSpPr>
          <p:nvPr/>
        </p:nvSpPr>
        <p:spPr>
          <a:xfrm xmlns:a="http://schemas.openxmlformats.org/drawingml/2006/main">
            <a:off x="8096250" y="476250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Paired t, df = 2</a:t>
            </a:r>
          </a:p>
        </p:txBody>
      </p:sp>
      <p:sp>
        <p:nvSpPr>
          <p:cNvPr id="9" name="Frozen rule: an interval crossing zero gives incon">
            <a:extLst xmlns:a="http://schemas.openxmlformats.org/drawingml/2006/main">
              <a:ext uri="{FF2B5EF4-FFF2-40B4-BE49-F238E27FC236}">
                <a16:creationId xmlns:a16="http://schemas.microsoft.com/office/drawing/2014/main" id="{AF64A364-F471-4D93-B67E-676D87152B86}"/>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Frozen rule: an interval crossing zero gives inconclusive. Uncertainty covers three run seeds.</a:t>
            </a:r>
          </a:p>
        </p:txBody>
      </p:sp>
    </p:spTree>
    <p:extLst>
      <p:ext uri="{BB962C8B-B14F-4D97-AF65-F5344CB8AC3E}">
        <p14:creationId xmlns:p14="http://schemas.microsoft.com/office/powerpoint/2010/main" val="11281233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arlier pilots had negative mean gains">
            <a:extLst xmlns:a="http://schemas.openxmlformats.org/drawingml/2006/main">
              <a:ext uri="{FF2B5EF4-FFF2-40B4-BE49-F238E27FC236}">
                <a16:creationId xmlns:a16="http://schemas.microsoft.com/office/drawing/2014/main" id="{C17BA8BA-FF21-44B0-8103-E2B15F57C8C9}"/>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Earlier pilots had negative mean gains</a:t>
            </a:r>
          </a:p>
        </p:txBody>
      </p:sp>
      <p:sp>
        <p:nvSpPr>
          <p:cNvPr id="2" name="GCN validation only. Seeds 3/4/5. 256 training gro">
            <a:extLst xmlns:a="http://schemas.openxmlformats.org/drawingml/2006/main">
              <a:ext uri="{FF2B5EF4-FFF2-40B4-BE49-F238E27FC236}">
                <a16:creationId xmlns:a16="http://schemas.microsoft.com/office/drawing/2014/main" id="{07DC7E11-573C-40A3-BDA6-8555903B0449}"/>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GCN validation only. Seeds 3/4/5. 256 training groups and 128 validation groups.</a:t>
            </a:r>
          </a:p>
        </p:txBody>
      </p:sp>
      <p:sp>
        <p:nvSpPr>
          <p:cNvPr id="3" name="4">
            <a:extLst xmlns:a="http://schemas.openxmlformats.org/drawingml/2006/main">
              <a:ext uri="{FF2B5EF4-FFF2-40B4-BE49-F238E27FC236}">
                <a16:creationId xmlns:a16="http://schemas.microsoft.com/office/drawing/2014/main" id="{99907426-5AAF-4799-8B7D-9CB3F5234F6E}"/>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E1512BF6-0494-4703-96BB-7FAEE18B3D6E}"/>
              </a:ext>
            </a:extLst>
          </p:cNvPr>
          <p:cNvGraphicFramePr/>
          <p:nvPr/>
        </p:nvGraphicFramePr>
        <p:xfrm>
          <a:off xmlns:a="http://schemas.openxmlformats.org/drawingml/2006/main" x="609600" y="2095500"/>
          <a:ext xmlns:a="http://schemas.openxmlformats.org/drawingml/2006/main" cx="6477000" cy="3048000"/>
        </p:xfrm>
        <a:graphic xmlns:a="http://schemas.openxmlformats.org/drawingml/2006/main">
          <a:graphicData uri="http://schemas.openxmlformats.org/drawingml/2006/chart">
            <c:chart xmlns:r="http://schemas.openxmlformats.org/officeDocument/2006/relationships" xmlns:c="http://schemas.openxmlformats.org/drawingml/2006/chart" r:id="R8097bad0d0f84dcf"/>
          </a:graphicData>
        </a:graphic>
      </p:graphicFrame>
      <p:sp>
        <p:nvSpPr>
          <p:cNvPr id="5" name="Coverage CI&#10;[-0.4110, 0.0444] pp">
            <a:extLst xmlns:a="http://schemas.openxmlformats.org/drawingml/2006/main">
              <a:ext uri="{FF2B5EF4-FFF2-40B4-BE49-F238E27FC236}">
                <a16:creationId xmlns:a16="http://schemas.microsoft.com/office/drawing/2014/main" id="{2A6A7C77-6648-4205-A47F-8CCD99D28CE1}"/>
              </a:ext>
            </a:extLst>
          </p:cNvPr>
          <p:cNvSpPr>
            <a:spLocks xmlns:a="http://schemas.openxmlformats.org/drawingml/2006/main" noGrp="1"/>
          </p:cNvSpPr>
          <p:nvPr/>
        </p:nvSpPr>
        <p:spPr>
          <a:xfrm xmlns:a="http://schemas.openxmlformats.org/drawingml/2006/main">
            <a:off x="7620000" y="22860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E43"/>
                </a:solidFill>
                <a:latin typeface="Arial"/>
                <a:ea typeface="Arial"/>
                <a:cs typeface="Arial"/>
              </a:defRPr>
            </a:defPPr>
            <a:lvl1pPr>
              <a:defRPr sz="2100" b="0">
                <a:solidFill>
                  <a:srgbClr val="142E43"/>
                </a:solidFill>
                <a:latin typeface="Arial"/>
                <a:ea typeface="Arial"/>
                <a:cs typeface="Arial"/>
              </a:defRPr>
            </a:lvl1pPr>
            <a:lvl2pPr>
              <a:defRPr sz="2100" b="0">
                <a:solidFill>
                  <a:srgbClr val="142E43"/>
                </a:solidFill>
                <a:latin typeface="Arial"/>
                <a:ea typeface="Arial"/>
                <a:cs typeface="Arial"/>
              </a:defRPr>
            </a:lvl2pPr>
            <a:lvl3pPr>
              <a:defRPr sz="2100" b="0">
                <a:solidFill>
                  <a:srgbClr val="142E43"/>
                </a:solidFill>
                <a:latin typeface="Arial"/>
                <a:ea typeface="Arial"/>
                <a:cs typeface="Arial"/>
              </a:defRPr>
            </a:lvl3pPr>
            <a:lvl4pPr>
              <a:defRPr sz="2100" b="0">
                <a:solidFill>
                  <a:srgbClr val="142E43"/>
                </a:solidFill>
                <a:latin typeface="Arial"/>
                <a:ea typeface="Arial"/>
                <a:cs typeface="Arial"/>
              </a:defRPr>
            </a:lvl4pPr>
            <a:lvl5pPr>
              <a:defRPr sz="2100" b="0">
                <a:solidFill>
                  <a:srgbClr val="142E43"/>
                </a:solidFill>
                <a:latin typeface="Arial"/>
                <a:ea typeface="Arial"/>
                <a:cs typeface="Arial"/>
              </a:defRPr>
            </a:lvl5pPr>
            <a:lvl6pPr>
              <a:defRPr sz="2100" b="0">
                <a:solidFill>
                  <a:srgbClr val="142E43"/>
                </a:solidFill>
                <a:latin typeface="Arial"/>
                <a:ea typeface="Arial"/>
                <a:cs typeface="Arial"/>
              </a:defRPr>
            </a:lvl6pPr>
            <a:lvl7pPr>
              <a:defRPr sz="2100" b="0">
                <a:solidFill>
                  <a:srgbClr val="142E43"/>
                </a:solidFill>
                <a:latin typeface="Arial"/>
                <a:ea typeface="Arial"/>
                <a:cs typeface="Arial"/>
              </a:defRPr>
            </a:lvl7pPr>
            <a:lvl8pPr>
              <a:defRPr sz="2100" b="0">
                <a:solidFill>
                  <a:srgbClr val="142E43"/>
                </a:solidFill>
                <a:latin typeface="Arial"/>
                <a:ea typeface="Arial"/>
                <a:cs typeface="Arial"/>
              </a:defRPr>
            </a:lvl8pPr>
            <a:lvl9pPr>
              <a:defRPr sz="2100" b="0">
                <a:solidFill>
                  <a:srgbClr val="142E43"/>
                </a:solidFill>
                <a:latin typeface="Arial"/>
                <a:ea typeface="Arial"/>
                <a:cs typeface="Arial"/>
              </a:defRPr>
            </a:lvl9pPr>
          </a:lstStyle>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Coverage CI</a:t>
            </a:r>
          </a:p>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[-0.4110, 0.0444] pp</a:t>
            </a:r>
          </a:p>
        </p:txBody>
      </p:sp>
      <p:sp>
        <p:nvSpPr>
          <p:cNvPr id="6" name="Size sampling CI&#10;[-1.3709, 0.2710] pp">
            <a:extLst xmlns:a="http://schemas.openxmlformats.org/drawingml/2006/main">
              <a:ext uri="{FF2B5EF4-FFF2-40B4-BE49-F238E27FC236}">
                <a16:creationId xmlns:a16="http://schemas.microsoft.com/office/drawing/2014/main" id="{8FFA3FCC-8A42-4268-B5C8-F6F87B3292E8}"/>
              </a:ext>
            </a:extLst>
          </p:cNvPr>
          <p:cNvSpPr>
            <a:spLocks xmlns:a="http://schemas.openxmlformats.org/drawingml/2006/main" noGrp="1"/>
          </p:cNvSpPr>
          <p:nvPr/>
        </p:nvSpPr>
        <p:spPr>
          <a:xfrm xmlns:a="http://schemas.openxmlformats.org/drawingml/2006/main">
            <a:off x="7620000" y="36195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E43"/>
                </a:solidFill>
                <a:latin typeface="Arial"/>
                <a:ea typeface="Arial"/>
                <a:cs typeface="Arial"/>
              </a:defRPr>
            </a:defPPr>
            <a:lvl1pPr>
              <a:defRPr sz="2100" b="0">
                <a:solidFill>
                  <a:srgbClr val="142E43"/>
                </a:solidFill>
                <a:latin typeface="Arial"/>
                <a:ea typeface="Arial"/>
                <a:cs typeface="Arial"/>
              </a:defRPr>
            </a:lvl1pPr>
            <a:lvl2pPr>
              <a:defRPr sz="2100" b="0">
                <a:solidFill>
                  <a:srgbClr val="142E43"/>
                </a:solidFill>
                <a:latin typeface="Arial"/>
                <a:ea typeface="Arial"/>
                <a:cs typeface="Arial"/>
              </a:defRPr>
            </a:lvl2pPr>
            <a:lvl3pPr>
              <a:defRPr sz="2100" b="0">
                <a:solidFill>
                  <a:srgbClr val="142E43"/>
                </a:solidFill>
                <a:latin typeface="Arial"/>
                <a:ea typeface="Arial"/>
                <a:cs typeface="Arial"/>
              </a:defRPr>
            </a:lvl3pPr>
            <a:lvl4pPr>
              <a:defRPr sz="2100" b="0">
                <a:solidFill>
                  <a:srgbClr val="142E43"/>
                </a:solidFill>
                <a:latin typeface="Arial"/>
                <a:ea typeface="Arial"/>
                <a:cs typeface="Arial"/>
              </a:defRPr>
            </a:lvl4pPr>
            <a:lvl5pPr>
              <a:defRPr sz="2100" b="0">
                <a:solidFill>
                  <a:srgbClr val="142E43"/>
                </a:solidFill>
                <a:latin typeface="Arial"/>
                <a:ea typeface="Arial"/>
                <a:cs typeface="Arial"/>
              </a:defRPr>
            </a:lvl5pPr>
            <a:lvl6pPr>
              <a:defRPr sz="2100" b="0">
                <a:solidFill>
                  <a:srgbClr val="142E43"/>
                </a:solidFill>
                <a:latin typeface="Arial"/>
                <a:ea typeface="Arial"/>
                <a:cs typeface="Arial"/>
              </a:defRPr>
            </a:lvl6pPr>
            <a:lvl7pPr>
              <a:defRPr sz="2100" b="0">
                <a:solidFill>
                  <a:srgbClr val="142E43"/>
                </a:solidFill>
                <a:latin typeface="Arial"/>
                <a:ea typeface="Arial"/>
                <a:cs typeface="Arial"/>
              </a:defRPr>
            </a:lvl7pPr>
            <a:lvl8pPr>
              <a:defRPr sz="2100" b="0">
                <a:solidFill>
                  <a:srgbClr val="142E43"/>
                </a:solidFill>
                <a:latin typeface="Arial"/>
                <a:ea typeface="Arial"/>
                <a:cs typeface="Arial"/>
              </a:defRPr>
            </a:lvl8pPr>
            <a:lvl9pPr>
              <a:defRPr sz="2100" b="0">
                <a:solidFill>
                  <a:srgbClr val="142E43"/>
                </a:solidFill>
                <a:latin typeface="Arial"/>
                <a:ea typeface="Arial"/>
                <a:cs typeface="Arial"/>
              </a:defRPr>
            </a:lvl9pPr>
          </a:lstStyle>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Size sampling CI</a:t>
            </a:r>
          </a:p>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[-1.3709, 0.2710] pp</a:t>
            </a:r>
          </a:p>
        </p:txBody>
      </p:sp>
      <p:sp>
        <p:nvSpPr>
          <p:cNvPr id="7" name="Exploratory paired 95% intervals. Historical cover">
            <a:extLst xmlns:a="http://schemas.openxmlformats.org/drawingml/2006/main">
              <a:ext uri="{FF2B5EF4-FFF2-40B4-BE49-F238E27FC236}">
                <a16:creationId xmlns:a16="http://schemas.microsoft.com/office/drawing/2014/main" id="{0ED8E75C-DC37-4941-AF52-3FAC4F90B681}"/>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Exploratory paired 95% intervals. Historical coverage follow-up remains ON HOLD.</a:t>
            </a:r>
          </a:p>
        </p:txBody>
      </p:sp>
    </p:spTree>
    <p:extLst>
      <p:ext uri="{BB962C8B-B14F-4D97-AF65-F5344CB8AC3E}">
        <p14:creationId xmlns:p14="http://schemas.microsoft.com/office/powerpoint/2010/main" val="12406217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coring roles and crossed device replay">
            <a:extLst xmlns:a="http://schemas.openxmlformats.org/drawingml/2006/main">
              <a:ext uri="{FF2B5EF4-FFF2-40B4-BE49-F238E27FC236}">
                <a16:creationId xmlns:a16="http://schemas.microsoft.com/office/drawing/2014/main" id="{2C5CB5EA-5BB0-412D-A156-85F4A1857DF6}"/>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Scoring roles and crossed device replay</a:t>
            </a:r>
          </a:p>
        </p:txBody>
      </p:sp>
      <p:sp>
        <p:nvSpPr>
          <p:cNvPr id="2" name="96/96 captures use the first target as score sourc">
            <a:extLst xmlns:a="http://schemas.openxmlformats.org/drawingml/2006/main">
              <a:ext uri="{FF2B5EF4-FFF2-40B4-BE49-F238E27FC236}">
                <a16:creationId xmlns:a16="http://schemas.microsoft.com/office/drawing/2014/main" id="{11FCED40-E7FD-4744-AE97-7707BE788317}"/>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96/96 captures use the first target as score source. The paper uses the injected representation.</a:t>
            </a:r>
          </a:p>
        </p:txBody>
      </p:sp>
      <p:sp>
        <p:nvSpPr>
          <p:cNvPr id="3" name="5">
            <a:extLst xmlns:a="http://schemas.openxmlformats.org/drawingml/2006/main">
              <a:ext uri="{FF2B5EF4-FFF2-40B4-BE49-F238E27FC236}">
                <a16:creationId xmlns:a16="http://schemas.microsoft.com/office/drawing/2014/main" id="{721E9EED-4D37-48EC-AB61-9BC6BC38B00D}"/>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54CB016D-4E5F-4863-8C0F-3346BAA123C8}"/>
              </a:ext>
            </a:extLst>
          </p:cNvPr>
          <p:cNvGraphicFramePr/>
          <p:nvPr/>
        </p:nvGraphicFramePr>
        <p:xfrm>
          <a:off xmlns:a="http://schemas.openxmlformats.org/drawingml/2006/main" x="609600" y="2333625"/>
          <a:ext xmlns:a="http://schemas.openxmlformats.org/drawingml/2006/main" cx="10972800" cy="2381250"/>
        </p:xfrm>
        <a:graphic xmlns:a="http://schemas.openxmlformats.org/drawingml/2006/main">
          <a:graphicData uri="http://schemas.openxmlformats.org/drawingml/2006/table">
            <a:tbl>
              <a:tblPr firstRow="1" bandRow="0"/>
              <a:tblGrid>
                <a:gridCol w="2095500"/>
                <a:gridCol w="2333625"/>
                <a:gridCol w="2762250"/>
                <a:gridCol w="3781425"/>
              </a:tblGrid>
              <a:tr h="476250">
                <a:tc>
                  <a:txBody>
                    <a:bodyPr wrap="square" lIns="95250" tIns="57150" rIns="95250" bIns="57150">
                      <a:noAutofit/>
                    </a:bodyPr>
                    <a:lstStyle/>
                    <a:p>
                      <a:pPr algn="l"/>
                      <a:r>
                        <a:rPr sz="1800" b="1">
                          <a:solidFill>
                            <a:srgbClr val="142E43"/>
                          </a:solidFill>
                          <a:latin typeface="Arial"/>
                          <a:ea typeface="Arial"/>
                          <a:cs typeface="Arial"/>
                        </a:rPr>
                        <a:t>Generator</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800" b="1">
                          <a:solidFill>
                            <a:srgbClr val="142E43"/>
                          </a:solidFill>
                          <a:latin typeface="Arial"/>
                          <a:ea typeface="Arial"/>
                          <a:cs typeface="Arial"/>
                        </a:rPr>
                        <a:t>GCN detector</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800" b="1">
                          <a:solidFill>
                            <a:srgbClr val="142E43"/>
                          </a:solidFill>
                          <a:latin typeface="Arial"/>
                          <a:ea typeface="Arial"/>
                          <a:cs typeface="Arial"/>
                        </a:rPr>
                        <a:t>Residuals /243</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800" b="1">
                          <a:solidFill>
                            <a:srgbClr val="142E43"/>
                          </a:solidFill>
                          <a:latin typeface="Arial"/>
                          <a:ea typeface="Arial"/>
                          <a:cs typeface="Arial"/>
                        </a:rPr>
                        <a:t>Historical vectors</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76250">
                <a:tc>
                  <a:txBody>
                    <a:bodyPr wrap="square" lIns="95250" tIns="57150" rIns="95250" bIns="57150">
                      <a:noAutofit/>
                    </a:bodyPr>
                    <a:lstStyle/>
                    <a:p>
                      <a:pPr algn="l"/>
                      <a:r>
                        <a:rPr sz="1875" b="0">
                          <a:solidFill>
                            <a:srgbClr val="142E43"/>
                          </a:solidFill>
                          <a:latin typeface="Arial"/>
                          <a:ea typeface="Arial"/>
                          <a:cs typeface="Arial"/>
                        </a:rPr>
                        <a:t>CPU</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CPU</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148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17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76250">
                <a:tc>
                  <a:txBody>
                    <a:bodyPr wrap="square" lIns="95250" tIns="57150" rIns="95250" bIns="57150">
                      <a:noAutofit/>
                    </a:bodyPr>
                    <a:lstStyle/>
                    <a:p>
                      <a:pPr algn="l"/>
                      <a:r>
                        <a:rPr sz="1875" b="0">
                          <a:solidFill>
                            <a:srgbClr val="142E43"/>
                          </a:solidFill>
                          <a:latin typeface="Arial"/>
                          <a:ea typeface="Arial"/>
                          <a:cs typeface="Arial"/>
                        </a:rPr>
                        <a:t>CPU</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GPU</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148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17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76250">
                <a:tc>
                  <a:txBody>
                    <a:bodyPr wrap="square" lIns="95250" tIns="57150" rIns="95250" bIns="57150">
                      <a:noAutofit/>
                    </a:bodyPr>
                    <a:lstStyle/>
                    <a:p>
                      <a:pPr algn="l"/>
                      <a:r>
                        <a:rPr sz="1875" b="0">
                          <a:solidFill>
                            <a:srgbClr val="142E43"/>
                          </a:solidFill>
                          <a:latin typeface="Arial"/>
                          <a:ea typeface="Arial"/>
                          <a:cs typeface="Arial"/>
                        </a:rPr>
                        <a:t>GPU</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CPU</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147</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48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76250">
                <a:tc>
                  <a:txBody>
                    <a:bodyPr wrap="square" lIns="95250" tIns="57150" rIns="95250" bIns="57150">
                      <a:noAutofit/>
                    </a:bodyPr>
                    <a:lstStyle/>
                    <a:p>
                      <a:pPr algn="l"/>
                      <a:r>
                        <a:rPr sz="1875" b="0">
                          <a:solidFill>
                            <a:srgbClr val="142E43"/>
                          </a:solidFill>
                          <a:latin typeface="Arial"/>
                          <a:ea typeface="Arial"/>
                          <a:cs typeface="Arial"/>
                        </a:rPr>
                        <a:t>GPU</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GPU</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147</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48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Detector device changed zero classes for each capt">
            <a:extLst xmlns:a="http://schemas.openxmlformats.org/drawingml/2006/main">
              <a:ext uri="{FF2B5EF4-FFF2-40B4-BE49-F238E27FC236}">
                <a16:creationId xmlns:a16="http://schemas.microsoft.com/office/drawing/2014/main" id="{AB19B8C1-AE6B-4090-B561-66A503B75225}"/>
              </a:ext>
            </a:extLst>
          </p:cNvPr>
          <p:cNvSpPr>
            <a:spLocks xmlns:a="http://schemas.openxmlformats.org/drawingml/2006/main" noGrp="1"/>
          </p:cNvSpPr>
          <p:nvPr/>
        </p:nvSpPr>
        <p:spPr>
          <a:xfrm xmlns:a="http://schemas.openxmlformats.org/drawingml/2006/main">
            <a:off x="609600" y="50006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42E43"/>
                </a:solidFill>
                <a:latin typeface="Arial"/>
                <a:ea typeface="Arial"/>
                <a:cs typeface="Arial"/>
              </a:defRPr>
            </a:defPPr>
            <a:lvl1pPr>
              <a:defRPr sz="2025" b="1">
                <a:solidFill>
                  <a:srgbClr val="142E43"/>
                </a:solidFill>
                <a:latin typeface="Arial"/>
                <a:ea typeface="Arial"/>
                <a:cs typeface="Arial"/>
              </a:defRPr>
            </a:lvl1pPr>
            <a:lvl2pPr>
              <a:defRPr sz="2025" b="1">
                <a:solidFill>
                  <a:srgbClr val="142E43"/>
                </a:solidFill>
                <a:latin typeface="Arial"/>
                <a:ea typeface="Arial"/>
                <a:cs typeface="Arial"/>
              </a:defRPr>
            </a:lvl2pPr>
            <a:lvl3pPr>
              <a:defRPr sz="2025" b="1">
                <a:solidFill>
                  <a:srgbClr val="142E43"/>
                </a:solidFill>
                <a:latin typeface="Arial"/>
                <a:ea typeface="Arial"/>
                <a:cs typeface="Arial"/>
              </a:defRPr>
            </a:lvl3pPr>
            <a:lvl4pPr>
              <a:defRPr sz="2025" b="1">
                <a:solidFill>
                  <a:srgbClr val="142E43"/>
                </a:solidFill>
                <a:latin typeface="Arial"/>
                <a:ea typeface="Arial"/>
                <a:cs typeface="Arial"/>
              </a:defRPr>
            </a:lvl4pPr>
            <a:lvl5pPr>
              <a:defRPr sz="2025" b="1">
                <a:solidFill>
                  <a:srgbClr val="142E43"/>
                </a:solidFill>
                <a:latin typeface="Arial"/>
                <a:ea typeface="Arial"/>
                <a:cs typeface="Arial"/>
              </a:defRPr>
            </a:lvl5pPr>
            <a:lvl6pPr>
              <a:defRPr sz="2025" b="1">
                <a:solidFill>
                  <a:srgbClr val="142E43"/>
                </a:solidFill>
                <a:latin typeface="Arial"/>
                <a:ea typeface="Arial"/>
                <a:cs typeface="Arial"/>
              </a:defRPr>
            </a:lvl6pPr>
            <a:lvl7pPr>
              <a:defRPr sz="2025" b="1">
                <a:solidFill>
                  <a:srgbClr val="142E43"/>
                </a:solidFill>
                <a:latin typeface="Arial"/>
                <a:ea typeface="Arial"/>
                <a:cs typeface="Arial"/>
              </a:defRPr>
            </a:lvl7pPr>
            <a:lvl8pPr>
              <a:defRPr sz="2025" b="1">
                <a:solidFill>
                  <a:srgbClr val="142E43"/>
                </a:solidFill>
                <a:latin typeface="Arial"/>
                <a:ea typeface="Arial"/>
                <a:cs typeface="Arial"/>
              </a:defRPr>
            </a:lvl8pPr>
            <a:lvl9pPr>
              <a:defRPr sz="2025" b="1">
                <a:solidFill>
                  <a:srgbClr val="142E43"/>
                </a:solidFill>
                <a:latin typeface="Arial"/>
                <a:ea typeface="Arial"/>
                <a:cs typeface="Arial"/>
              </a:defRPr>
            </a:lvl9pPr>
          </a:lstStyle>
          <a:p xmlns:a="http://schemas.openxmlformats.org/drawingml/2006/main">
            <a:pPr>
              <a:defRPr sz="2025" b="1">
                <a:solidFill>
                  <a:srgbClr val="142E43"/>
                </a:solidFill>
                <a:latin typeface="Arial"/>
                <a:ea typeface="Arial"/>
                <a:cs typeface="Arial"/>
              </a:defRPr>
            </a:pPr>
            <a:r>
              <a:rPr sz="2025" b="1">
                <a:solidFill>
                  <a:srgbClr val="142E43"/>
                </a:solidFill>
                <a:latin typeface="Arial"/>
                <a:ea typeface="Arial"/>
                <a:cs typeface="Arial"/>
              </a:rPr>
              <a:t>Detector device changed zero classes for each captured attack.</a:t>
            </a:r>
          </a:p>
        </p:txBody>
      </p:sp>
      <p:sp>
        <p:nvSpPr>
          <p:cNvPr id="6" name="GCN validation only. Physical edge source is corre">
            <a:extLst xmlns:a="http://schemas.openxmlformats.org/drawingml/2006/main">
              <a:ext uri="{FF2B5EF4-FFF2-40B4-BE49-F238E27FC236}">
                <a16:creationId xmlns:a16="http://schemas.microsoft.com/office/drawing/2014/main" id="{7596EBAC-DD44-455B-9760-793AA177A335}"/>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GCN validation only. Physical edge source is correct. Prediction match does not prove graph identity.</a:t>
            </a:r>
          </a:p>
        </p:txBody>
      </p:sp>
    </p:spTree>
    <p:extLst>
      <p:ext uri="{BB962C8B-B14F-4D97-AF65-F5344CB8AC3E}">
        <p14:creationId xmlns:p14="http://schemas.microsoft.com/office/powerpoint/2010/main" val="8586689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ollow-up options await a decision">
            <a:extLst xmlns:a="http://schemas.openxmlformats.org/drawingml/2006/main">
              <a:ext uri="{FF2B5EF4-FFF2-40B4-BE49-F238E27FC236}">
                <a16:creationId xmlns:a16="http://schemas.microsoft.com/office/drawing/2014/main" id="{C6E113EF-8BD5-456B-A29D-CC3D27DAC5FB}"/>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Follow-up options await a decision</a:t>
            </a:r>
          </a:p>
        </p:txBody>
      </p:sp>
      <p:sp>
        <p:nvSpPr>
          <p:cNvPr id="2" name="PROPOSED. No direction approved, no frozen pilot a">
            <a:extLst xmlns:a="http://schemas.openxmlformats.org/drawingml/2006/main">
              <a:ext uri="{FF2B5EF4-FFF2-40B4-BE49-F238E27FC236}">
                <a16:creationId xmlns:a16="http://schemas.microsoft.com/office/drawing/2014/main" id="{257C0C0D-247A-4218-A579-27BB8993E660}"/>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PROPOSED. No direction approved, no frozen pilot and no real-data A/B results.</a:t>
            </a:r>
          </a:p>
        </p:txBody>
      </p:sp>
      <p:sp>
        <p:nvSpPr>
          <p:cNvPr id="3" name="6">
            <a:extLst xmlns:a="http://schemas.openxmlformats.org/drawingml/2006/main">
              <a:ext uri="{FF2B5EF4-FFF2-40B4-BE49-F238E27FC236}">
                <a16:creationId xmlns:a16="http://schemas.microsoft.com/office/drawing/2014/main" id="{97381BAE-8F28-4C5D-9A47-63C41FD353BF}"/>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6</a:t>
            </a:r>
          </a:p>
        </p:txBody>
      </p:sp>
      <p:sp>
        <p:nvSpPr>
          <p:cNvPr id="4" name="A  Source alignment">
            <a:extLst xmlns:a="http://schemas.openxmlformats.org/drawingml/2006/main">
              <a:ext uri="{FF2B5EF4-FFF2-40B4-BE49-F238E27FC236}">
                <a16:creationId xmlns:a16="http://schemas.microsoft.com/office/drawing/2014/main" id="{024A27AD-F15C-434C-881A-1CE413B44530}"/>
              </a:ext>
            </a:extLst>
          </p:cNvPr>
          <p:cNvSpPr>
            <a:spLocks xmlns:a="http://schemas.openxmlformats.org/drawingml/2006/main" noGrp="1"/>
          </p:cNvSpPr>
          <p:nvPr/>
        </p:nvSpPr>
        <p:spPr>
          <a:xfrm xmlns:a="http://schemas.openxmlformats.org/drawingml/2006/main">
            <a:off x="609600" y="22860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42E43"/>
                </a:solidFill>
                <a:latin typeface="Arial"/>
                <a:ea typeface="Arial"/>
                <a:cs typeface="Arial"/>
              </a:defRPr>
            </a:defPPr>
            <a:lvl1pPr>
              <a:defRPr sz="2550" b="1">
                <a:solidFill>
                  <a:srgbClr val="142E43"/>
                </a:solidFill>
                <a:latin typeface="Arial"/>
                <a:ea typeface="Arial"/>
                <a:cs typeface="Arial"/>
              </a:defRPr>
            </a:lvl1pPr>
            <a:lvl2pPr>
              <a:defRPr sz="2550" b="1">
                <a:solidFill>
                  <a:srgbClr val="142E43"/>
                </a:solidFill>
                <a:latin typeface="Arial"/>
                <a:ea typeface="Arial"/>
                <a:cs typeface="Arial"/>
              </a:defRPr>
            </a:lvl2pPr>
            <a:lvl3pPr>
              <a:defRPr sz="2550" b="1">
                <a:solidFill>
                  <a:srgbClr val="142E43"/>
                </a:solidFill>
                <a:latin typeface="Arial"/>
                <a:ea typeface="Arial"/>
                <a:cs typeface="Arial"/>
              </a:defRPr>
            </a:lvl3pPr>
            <a:lvl4pPr>
              <a:defRPr sz="2550" b="1">
                <a:solidFill>
                  <a:srgbClr val="142E43"/>
                </a:solidFill>
                <a:latin typeface="Arial"/>
                <a:ea typeface="Arial"/>
                <a:cs typeface="Arial"/>
              </a:defRPr>
            </a:lvl4pPr>
            <a:lvl5pPr>
              <a:defRPr sz="2550" b="1">
                <a:solidFill>
                  <a:srgbClr val="142E43"/>
                </a:solidFill>
                <a:latin typeface="Arial"/>
                <a:ea typeface="Arial"/>
                <a:cs typeface="Arial"/>
              </a:defRPr>
            </a:lvl5pPr>
            <a:lvl6pPr>
              <a:defRPr sz="2550" b="1">
                <a:solidFill>
                  <a:srgbClr val="142E43"/>
                </a:solidFill>
                <a:latin typeface="Arial"/>
                <a:ea typeface="Arial"/>
                <a:cs typeface="Arial"/>
              </a:defRPr>
            </a:lvl6pPr>
            <a:lvl7pPr>
              <a:defRPr sz="2550" b="1">
                <a:solidFill>
                  <a:srgbClr val="142E43"/>
                </a:solidFill>
                <a:latin typeface="Arial"/>
                <a:ea typeface="Arial"/>
                <a:cs typeface="Arial"/>
              </a:defRPr>
            </a:lvl7pPr>
            <a:lvl8pPr>
              <a:defRPr sz="2550" b="1">
                <a:solidFill>
                  <a:srgbClr val="142E43"/>
                </a:solidFill>
                <a:latin typeface="Arial"/>
                <a:ea typeface="Arial"/>
                <a:cs typeface="Arial"/>
              </a:defRPr>
            </a:lvl8pPr>
            <a:lvl9pPr>
              <a:defRPr sz="2550" b="1">
                <a:solidFill>
                  <a:srgbClr val="142E43"/>
                </a:solidFill>
                <a:latin typeface="Arial"/>
                <a:ea typeface="Arial"/>
                <a:cs typeface="Arial"/>
              </a:defRPr>
            </a:lvl9pPr>
          </a:lstStyle>
          <a:p xmlns:a="http://schemas.openxmlformats.org/drawingml/2006/main">
            <a:pPr>
              <a:defRPr sz="2550" b="1">
                <a:solidFill>
                  <a:srgbClr val="142E43"/>
                </a:solidFill>
                <a:latin typeface="Arial"/>
                <a:ea typeface="Arial"/>
                <a:cs typeface="Arial"/>
              </a:defRPr>
            </a:pPr>
            <a:r>
              <a:rPr sz="2550" b="1">
                <a:solidFill>
                  <a:srgbClr val="142E43"/>
                </a:solidFill>
                <a:latin typeface="Arial"/>
                <a:ea typeface="Arial"/>
                <a:cs typeface="Arial"/>
              </a:rPr>
              <a:t>A  Source alignment</a:t>
            </a:r>
          </a:p>
        </p:txBody>
      </p:sp>
      <p:sp>
        <p:nvSpPr>
          <p:cNvPr id="5" name="Use the injected representation.&#10;Retrain under equ">
            <a:extLst xmlns:a="http://schemas.openxmlformats.org/drawingml/2006/main">
              <a:ext uri="{FF2B5EF4-FFF2-40B4-BE49-F238E27FC236}">
                <a16:creationId xmlns:a16="http://schemas.microsoft.com/office/drawing/2014/main" id="{02A95ED5-7E53-45CB-B235-FBB9F101CC9F}"/>
              </a:ext>
            </a:extLst>
          </p:cNvPr>
          <p:cNvSpPr>
            <a:spLocks xmlns:a="http://schemas.openxmlformats.org/drawingml/2006/main" noGrp="1"/>
          </p:cNvSpPr>
          <p:nvPr/>
        </p:nvSpPr>
        <p:spPr>
          <a:xfrm xmlns:a="http://schemas.openxmlformats.org/drawingml/2006/main">
            <a:off x="609600" y="3000375"/>
            <a:ext cx="5191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E43"/>
                </a:solidFill>
                <a:latin typeface="Arial"/>
                <a:ea typeface="Arial"/>
                <a:cs typeface="Arial"/>
              </a:defRPr>
            </a:defPPr>
            <a:lvl1pPr>
              <a:defRPr sz="2025" b="0">
                <a:solidFill>
                  <a:srgbClr val="142E43"/>
                </a:solidFill>
                <a:latin typeface="Arial"/>
                <a:ea typeface="Arial"/>
                <a:cs typeface="Arial"/>
              </a:defRPr>
            </a:lvl1pPr>
            <a:lvl2pPr>
              <a:defRPr sz="2025" b="0">
                <a:solidFill>
                  <a:srgbClr val="142E43"/>
                </a:solidFill>
                <a:latin typeface="Arial"/>
                <a:ea typeface="Arial"/>
                <a:cs typeface="Arial"/>
              </a:defRPr>
            </a:lvl2pPr>
            <a:lvl3pPr>
              <a:defRPr sz="2025" b="0">
                <a:solidFill>
                  <a:srgbClr val="142E43"/>
                </a:solidFill>
                <a:latin typeface="Arial"/>
                <a:ea typeface="Arial"/>
                <a:cs typeface="Arial"/>
              </a:defRPr>
            </a:lvl3pPr>
            <a:lvl4pPr>
              <a:defRPr sz="2025" b="0">
                <a:solidFill>
                  <a:srgbClr val="142E43"/>
                </a:solidFill>
                <a:latin typeface="Arial"/>
                <a:ea typeface="Arial"/>
                <a:cs typeface="Arial"/>
              </a:defRPr>
            </a:lvl4pPr>
            <a:lvl5pPr>
              <a:defRPr sz="2025" b="0">
                <a:solidFill>
                  <a:srgbClr val="142E43"/>
                </a:solidFill>
                <a:latin typeface="Arial"/>
                <a:ea typeface="Arial"/>
                <a:cs typeface="Arial"/>
              </a:defRPr>
            </a:lvl5pPr>
            <a:lvl6pPr>
              <a:defRPr sz="2025" b="0">
                <a:solidFill>
                  <a:srgbClr val="142E43"/>
                </a:solidFill>
                <a:latin typeface="Arial"/>
                <a:ea typeface="Arial"/>
                <a:cs typeface="Arial"/>
              </a:defRPr>
            </a:lvl6pPr>
            <a:lvl7pPr>
              <a:defRPr sz="2025" b="0">
                <a:solidFill>
                  <a:srgbClr val="142E43"/>
                </a:solidFill>
                <a:latin typeface="Arial"/>
                <a:ea typeface="Arial"/>
                <a:cs typeface="Arial"/>
              </a:defRPr>
            </a:lvl7pPr>
            <a:lvl8pPr>
              <a:defRPr sz="2025" b="0">
                <a:solidFill>
                  <a:srgbClr val="142E43"/>
                </a:solidFill>
                <a:latin typeface="Arial"/>
                <a:ea typeface="Arial"/>
                <a:cs typeface="Arial"/>
              </a:defRPr>
            </a:lvl8pPr>
            <a:lvl9pPr>
              <a:defRPr sz="2025" b="0">
                <a:solidFill>
                  <a:srgbClr val="142E43"/>
                </a:solidFill>
                <a:latin typeface="Arial"/>
                <a:ea typeface="Arial"/>
                <a:cs typeface="Arial"/>
              </a:defRPr>
            </a:lvl9pPr>
          </a:lstStyle>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Use the injected representation.</a:t>
            </a:r>
          </a:p>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Retrain under equal resources.</a:t>
            </a:r>
          </a:p>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Compare against fresh native training.</a:t>
            </a:r>
          </a:p>
        </p:txBody>
      </p:sp>
      <p:sp>
        <p:nvSpPr>
          <p:cNvPr id="6" name="B  Sole-edge priority">
            <a:extLst xmlns:a="http://schemas.openxmlformats.org/drawingml/2006/main">
              <a:ext uri="{FF2B5EF4-FFF2-40B4-BE49-F238E27FC236}">
                <a16:creationId xmlns:a16="http://schemas.microsoft.com/office/drawing/2014/main" id="{FFCC036F-169A-4303-AB04-04F5AEE6FEEA}"/>
              </a:ext>
            </a:extLst>
          </p:cNvPr>
          <p:cNvSpPr>
            <a:spLocks xmlns:a="http://schemas.openxmlformats.org/drawingml/2006/main" noGrp="1"/>
          </p:cNvSpPr>
          <p:nvPr/>
        </p:nvSpPr>
        <p:spPr>
          <a:xfrm xmlns:a="http://schemas.openxmlformats.org/drawingml/2006/main">
            <a:off x="6572250" y="22860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42E43"/>
                </a:solidFill>
                <a:latin typeface="Arial"/>
                <a:ea typeface="Arial"/>
                <a:cs typeface="Arial"/>
              </a:defRPr>
            </a:defPPr>
            <a:lvl1pPr>
              <a:defRPr sz="2550" b="1">
                <a:solidFill>
                  <a:srgbClr val="142E43"/>
                </a:solidFill>
                <a:latin typeface="Arial"/>
                <a:ea typeface="Arial"/>
                <a:cs typeface="Arial"/>
              </a:defRPr>
            </a:lvl1pPr>
            <a:lvl2pPr>
              <a:defRPr sz="2550" b="1">
                <a:solidFill>
                  <a:srgbClr val="142E43"/>
                </a:solidFill>
                <a:latin typeface="Arial"/>
                <a:ea typeface="Arial"/>
                <a:cs typeface="Arial"/>
              </a:defRPr>
            </a:lvl2pPr>
            <a:lvl3pPr>
              <a:defRPr sz="2550" b="1">
                <a:solidFill>
                  <a:srgbClr val="142E43"/>
                </a:solidFill>
                <a:latin typeface="Arial"/>
                <a:ea typeface="Arial"/>
                <a:cs typeface="Arial"/>
              </a:defRPr>
            </a:lvl3pPr>
            <a:lvl4pPr>
              <a:defRPr sz="2550" b="1">
                <a:solidFill>
                  <a:srgbClr val="142E43"/>
                </a:solidFill>
                <a:latin typeface="Arial"/>
                <a:ea typeface="Arial"/>
                <a:cs typeface="Arial"/>
              </a:defRPr>
            </a:lvl4pPr>
            <a:lvl5pPr>
              <a:defRPr sz="2550" b="1">
                <a:solidFill>
                  <a:srgbClr val="142E43"/>
                </a:solidFill>
                <a:latin typeface="Arial"/>
                <a:ea typeface="Arial"/>
                <a:cs typeface="Arial"/>
              </a:defRPr>
            </a:lvl5pPr>
            <a:lvl6pPr>
              <a:defRPr sz="2550" b="1">
                <a:solidFill>
                  <a:srgbClr val="142E43"/>
                </a:solidFill>
                <a:latin typeface="Arial"/>
                <a:ea typeface="Arial"/>
                <a:cs typeface="Arial"/>
              </a:defRPr>
            </a:lvl6pPr>
            <a:lvl7pPr>
              <a:defRPr sz="2550" b="1">
                <a:solidFill>
                  <a:srgbClr val="142E43"/>
                </a:solidFill>
                <a:latin typeface="Arial"/>
                <a:ea typeface="Arial"/>
                <a:cs typeface="Arial"/>
              </a:defRPr>
            </a:lvl7pPr>
            <a:lvl8pPr>
              <a:defRPr sz="2550" b="1">
                <a:solidFill>
                  <a:srgbClr val="142E43"/>
                </a:solidFill>
                <a:latin typeface="Arial"/>
                <a:ea typeface="Arial"/>
                <a:cs typeface="Arial"/>
              </a:defRPr>
            </a:lvl8pPr>
            <a:lvl9pPr>
              <a:defRPr sz="2550" b="1">
                <a:solidFill>
                  <a:srgbClr val="142E43"/>
                </a:solidFill>
                <a:latin typeface="Arial"/>
                <a:ea typeface="Arial"/>
                <a:cs typeface="Arial"/>
              </a:defRPr>
            </a:lvl9pPr>
          </a:lstStyle>
          <a:p xmlns:a="http://schemas.openxmlformats.org/drawingml/2006/main">
            <a:pPr>
              <a:defRPr sz="2550" b="1">
                <a:solidFill>
                  <a:srgbClr val="142E43"/>
                </a:solidFill>
                <a:latin typeface="Arial"/>
                <a:ea typeface="Arial"/>
                <a:cs typeface="Arial"/>
              </a:defRPr>
            </a:pPr>
            <a:r>
              <a:rPr sz="2550" b="1">
                <a:solidFill>
                  <a:srgbClr val="142E43"/>
                </a:solidFill>
                <a:latin typeface="Arial"/>
                <a:ea typeface="Arial"/>
                <a:cs typeface="Arial"/>
              </a:rPr>
              <a:t>B  Sole-edge priority</a:t>
            </a:r>
          </a:p>
        </p:txBody>
      </p:sp>
      <p:sp>
        <p:nvSpPr>
          <p:cNvPr id="7" name="Use clean-surrogate predictions.&#10;GPU replay identi">
            <a:extLst xmlns:a="http://schemas.openxmlformats.org/drawingml/2006/main">
              <a:ext uri="{FF2B5EF4-FFF2-40B4-BE49-F238E27FC236}">
                <a16:creationId xmlns:a16="http://schemas.microsoft.com/office/drawing/2014/main" id="{0A3EE386-006B-4094-AA49-DEACA6A3C3AE}"/>
              </a:ext>
            </a:extLst>
          </p:cNvPr>
          <p:cNvSpPr>
            <a:spLocks xmlns:a="http://schemas.openxmlformats.org/drawingml/2006/main" noGrp="1"/>
          </p:cNvSpPr>
          <p:nvPr/>
        </p:nvSpPr>
        <p:spPr>
          <a:xfrm xmlns:a="http://schemas.openxmlformats.org/drawingml/2006/main">
            <a:off x="6572250" y="3000375"/>
            <a:ext cx="50101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42E43"/>
                </a:solidFill>
                <a:latin typeface="Arial"/>
                <a:ea typeface="Arial"/>
                <a:cs typeface="Arial"/>
              </a:defRPr>
            </a:defPPr>
            <a:lvl1pPr>
              <a:defRPr sz="2025" b="0">
                <a:solidFill>
                  <a:srgbClr val="142E43"/>
                </a:solidFill>
                <a:latin typeface="Arial"/>
                <a:ea typeface="Arial"/>
                <a:cs typeface="Arial"/>
              </a:defRPr>
            </a:lvl1pPr>
            <a:lvl2pPr>
              <a:defRPr sz="2025" b="0">
                <a:solidFill>
                  <a:srgbClr val="142E43"/>
                </a:solidFill>
                <a:latin typeface="Arial"/>
                <a:ea typeface="Arial"/>
                <a:cs typeface="Arial"/>
              </a:defRPr>
            </a:lvl2pPr>
            <a:lvl3pPr>
              <a:defRPr sz="2025" b="0">
                <a:solidFill>
                  <a:srgbClr val="142E43"/>
                </a:solidFill>
                <a:latin typeface="Arial"/>
                <a:ea typeface="Arial"/>
                <a:cs typeface="Arial"/>
              </a:defRPr>
            </a:lvl3pPr>
            <a:lvl4pPr>
              <a:defRPr sz="2025" b="0">
                <a:solidFill>
                  <a:srgbClr val="142E43"/>
                </a:solidFill>
                <a:latin typeface="Arial"/>
                <a:ea typeface="Arial"/>
                <a:cs typeface="Arial"/>
              </a:defRPr>
            </a:lvl4pPr>
            <a:lvl5pPr>
              <a:defRPr sz="2025" b="0">
                <a:solidFill>
                  <a:srgbClr val="142E43"/>
                </a:solidFill>
                <a:latin typeface="Arial"/>
                <a:ea typeface="Arial"/>
                <a:cs typeface="Arial"/>
              </a:defRPr>
            </a:lvl5pPr>
            <a:lvl6pPr>
              <a:defRPr sz="2025" b="0">
                <a:solidFill>
                  <a:srgbClr val="142E43"/>
                </a:solidFill>
                <a:latin typeface="Arial"/>
                <a:ea typeface="Arial"/>
                <a:cs typeface="Arial"/>
              </a:defRPr>
            </a:lvl6pPr>
            <a:lvl7pPr>
              <a:defRPr sz="2025" b="0">
                <a:solidFill>
                  <a:srgbClr val="142E43"/>
                </a:solidFill>
                <a:latin typeface="Arial"/>
                <a:ea typeface="Arial"/>
                <a:cs typeface="Arial"/>
              </a:defRPr>
            </a:lvl7pPr>
            <a:lvl8pPr>
              <a:defRPr sz="2025" b="0">
                <a:solidFill>
                  <a:srgbClr val="142E43"/>
                </a:solidFill>
                <a:latin typeface="Arial"/>
                <a:ea typeface="Arial"/>
                <a:cs typeface="Arial"/>
              </a:defRPr>
            </a:lvl8pPr>
            <a:lvl9pPr>
              <a:defRPr sz="2025" b="0">
                <a:solidFill>
                  <a:srgbClr val="142E43"/>
                </a:solidFill>
                <a:latin typeface="Arial"/>
                <a:ea typeface="Arial"/>
                <a:cs typeface="Arial"/>
              </a:defRPr>
            </a:lvl9pPr>
          </a:lstStyle>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Use clean-surrogate predictions.</a:t>
            </a:r>
          </a:p>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GPU replay identifies 6 opportunities.</a:t>
            </a:r>
          </a:p>
          <a:p xmlns:a="http://schemas.openxmlformats.org/drawingml/2006/main">
            <a:pPr>
              <a:defRPr sz="2025" b="0">
                <a:solidFill>
                  <a:srgbClr val="142E43"/>
                </a:solidFill>
                <a:latin typeface="Arial"/>
                <a:ea typeface="Arial"/>
                <a:cs typeface="Arial"/>
              </a:defRPr>
            </a:pPr>
            <a:r>
              <a:rPr sz="2025" b="0">
                <a:solidFill>
                  <a:srgbClr val="142E43"/>
                </a:solidFill>
                <a:latin typeface="Arial"/>
                <a:ea typeface="Arial"/>
                <a:cs typeface="Arial"/>
              </a:rPr>
              <a:t>All-target and same-count random masks.</a:t>
            </a:r>
          </a:p>
        </p:txBody>
      </p:sp>
      <p:sp>
        <p:nvSpPr>
          <p:cNvPr id="8" name="12 synthetic CPU checks passed. Efficacy and novel">
            <a:extLst xmlns:a="http://schemas.openxmlformats.org/drawingml/2006/main">
              <a:ext uri="{FF2B5EF4-FFF2-40B4-BE49-F238E27FC236}">
                <a16:creationId xmlns:a16="http://schemas.microsoft.com/office/drawing/2014/main" id="{23E0D2BC-B3FE-4798-B70C-D57CA8FA95E0}"/>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12 synthetic CPU checks passed. Efficacy and novelty remain unestablished. Final testing has a separate checkpoint.</a:t>
            </a:r>
          </a:p>
        </p:txBody>
      </p:sp>
    </p:spTree>
    <p:extLst>
      <p:ext uri="{BB962C8B-B14F-4D97-AF65-F5344CB8AC3E}">
        <p14:creationId xmlns:p14="http://schemas.microsoft.com/office/powerpoint/2010/main" val="6787982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mpleted evidence and remaining work">
            <a:extLst xmlns:a="http://schemas.openxmlformats.org/drawingml/2006/main">
              <a:ext uri="{FF2B5EF4-FFF2-40B4-BE49-F238E27FC236}">
                <a16:creationId xmlns:a16="http://schemas.microsoft.com/office/drawing/2014/main" id="{8B1DD599-C5D4-4302-A5A2-1FD50B99EC5F}"/>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Completed evidence and remaining work</a:t>
            </a:r>
          </a:p>
        </p:txBody>
      </p:sp>
      <p:sp>
        <p:nvSpPr>
          <p:cNvPr id="2" name="Report and presentation are drafts. Planned speaki">
            <a:extLst xmlns:a="http://schemas.openxmlformats.org/drawingml/2006/main">
              <a:ext uri="{FF2B5EF4-FFF2-40B4-BE49-F238E27FC236}">
                <a16:creationId xmlns:a16="http://schemas.microsoft.com/office/drawing/2014/main" id="{E0F02C6E-555E-43D6-9E7B-64D8A387E0E0}"/>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Report and presentation are drafts. Planned speaking roles are not actual contributions.</a:t>
            </a:r>
          </a:p>
        </p:txBody>
      </p:sp>
      <p:sp>
        <p:nvSpPr>
          <p:cNvPr id="3" name="7">
            <a:extLst xmlns:a="http://schemas.openxmlformats.org/drawingml/2006/main">
              <a:ext uri="{FF2B5EF4-FFF2-40B4-BE49-F238E27FC236}">
                <a16:creationId xmlns:a16="http://schemas.microsoft.com/office/drawing/2014/main" id="{34048E50-C0E5-43DB-BFC7-102375DC36CA}"/>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D6A36C76-7AAB-4CE6-BEA9-67E2CE129299}"/>
              </a:ext>
            </a:extLst>
          </p:cNvPr>
          <p:cNvGraphicFramePr/>
          <p:nvPr/>
        </p:nvGraphicFramePr>
        <p:xfrm>
          <a:off xmlns:a="http://schemas.openxmlformats.org/drawingml/2006/main" x="609600" y="2095500"/>
          <a:ext xmlns:a="http://schemas.openxmlformats.org/drawingml/2006/main" cx="10972800" cy="3257550"/>
        </p:xfrm>
        <a:graphic xmlns:a="http://schemas.openxmlformats.org/drawingml/2006/main">
          <a:graphicData uri="http://schemas.openxmlformats.org/drawingml/2006/table">
            <a:tbl>
              <a:tblPr firstRow="1" bandRow="0"/>
              <a:tblGrid>
                <a:gridCol w="5810250"/>
                <a:gridCol w="5162550"/>
              </a:tblGrid>
              <a:tr h="465364">
                <a:tc>
                  <a:txBody>
                    <a:bodyPr wrap="square" lIns="95250" tIns="57150" rIns="95250" bIns="57150">
                      <a:noAutofit/>
                    </a:bodyPr>
                    <a:lstStyle/>
                    <a:p>
                      <a:pPr algn="l"/>
                      <a:r>
                        <a:rPr sz="1800" b="1">
                          <a:solidFill>
                            <a:srgbClr val="142E43"/>
                          </a:solidFill>
                          <a:latin typeface="Arial"/>
                          <a:ea typeface="Arial"/>
                          <a:cs typeface="Arial"/>
                        </a:rPr>
                        <a:t>Evidence or requirement</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800" b="1">
                          <a:solidFill>
                            <a:srgbClr val="142E43"/>
                          </a:solidFill>
                          <a:latin typeface="Arial"/>
                          <a:ea typeface="Arial"/>
                          <a:cs typeface="Arial"/>
                        </a:rPr>
                        <a:t>Current status</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65364">
                <a:tc>
                  <a:txBody>
                    <a:bodyPr wrap="square" lIns="95250" tIns="57150" rIns="95250" bIns="57150">
                      <a:noAutofit/>
                    </a:bodyPr>
                    <a:lstStyle/>
                    <a:p>
                      <a:pPr algn="l"/>
                      <a:r>
                        <a:rPr sz="1875" b="0">
                          <a:solidFill>
                            <a:srgbClr val="142E43"/>
                          </a:solidFill>
                          <a:latin typeface="Arial"/>
                          <a:ea typeface="Arial"/>
                          <a:cs typeface="Arial"/>
                        </a:rPr>
                        <a:t>Frozen reproduction</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Complete, inconclusive</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65364">
                <a:tc>
                  <a:txBody>
                    <a:bodyPr wrap="square" lIns="95250" tIns="57150" rIns="95250" bIns="57150">
                      <a:noAutofit/>
                    </a:bodyPr>
                    <a:lstStyle/>
                    <a:p>
                      <a:pPr algn="l"/>
                      <a:r>
                        <a:rPr sz="1875" b="0">
                          <a:solidFill>
                            <a:srgbClr val="142E43"/>
                          </a:solidFill>
                          <a:latin typeface="Arial"/>
                          <a:ea typeface="Arial"/>
                          <a:cs typeface="Arial"/>
                        </a:rPr>
                        <a:t>Earlier technical pilots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Complete, negative means</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65364">
                <a:tc>
                  <a:txBody>
                    <a:bodyPr wrap="square" lIns="95250" tIns="57150" rIns="95250" bIns="57150">
                      <a:noAutofit/>
                    </a:bodyPr>
                    <a:lstStyle/>
                    <a:p>
                      <a:pPr algn="l"/>
                      <a:r>
                        <a:rPr sz="1875" b="0">
                          <a:solidFill>
                            <a:srgbClr val="142E43"/>
                          </a:solidFill>
                          <a:latin typeface="Arial"/>
                          <a:ea typeface="Arial"/>
                          <a:cs typeface="Arial"/>
                        </a:rPr>
                        <a:t>Full improvement and controls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Not executed</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65364">
                <a:tc>
                  <a:txBody>
                    <a:bodyPr wrap="square" lIns="95250" tIns="57150" rIns="95250" bIns="57150">
                      <a:noAutofit/>
                    </a:bodyPr>
                    <a:lstStyle/>
                    <a:p>
                      <a:pPr algn="l"/>
                      <a:r>
                        <a:rPr sz="1875" b="0">
                          <a:solidFill>
                            <a:srgbClr val="142E43"/>
                          </a:solidFill>
                          <a:latin typeface="Arial"/>
                          <a:ea typeface="Arial"/>
                          <a:cs typeface="Arial"/>
                        </a:rPr>
                        <a:t>Direction and course approvals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Pending</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65364">
                <a:tc>
                  <a:txBody>
                    <a:bodyPr wrap="square" lIns="95250" tIns="57150" rIns="95250" bIns="57150">
                      <a:noAutofit/>
                    </a:bodyPr>
                    <a:lstStyle/>
                    <a:p>
                      <a:pPr algn="l"/>
                      <a:r>
                        <a:rPr sz="1875" b="0">
                          <a:solidFill>
                            <a:srgbClr val="142E43"/>
                          </a:solidFill>
                          <a:latin typeface="Arial"/>
                          <a:ea typeface="Arial"/>
                          <a:cs typeface="Arial"/>
                        </a:rPr>
                        <a:t>Human review and contributions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Pending</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65364">
                <a:tc>
                  <a:txBody>
                    <a:bodyPr wrap="square" lIns="95250" tIns="57150" rIns="95250" bIns="57150">
                      <a:noAutofit/>
                    </a:bodyPr>
                    <a:lstStyle/>
                    <a:p>
                      <a:pPr algn="l"/>
                      <a:r>
                        <a:rPr sz="1875" b="0">
                          <a:solidFill>
                            <a:srgbClr val="142E43"/>
                          </a:solidFill>
                          <a:latin typeface="Arial"/>
                          <a:ea typeface="Arial"/>
                          <a:cs typeface="Arial"/>
                        </a:rPr>
                        <a:t>Rehearsal and final freeze</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75" b="0">
                          <a:solidFill>
                            <a:srgbClr val="142E43"/>
                          </a:solidFill>
                          <a:latin typeface="Arial"/>
                          <a:ea typeface="Arial"/>
                          <a:cs typeface="Arial"/>
                        </a:rPr>
                        <a:t>Pending</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Original protocols and failures remain traceable. ">
            <a:extLst xmlns:a="http://schemas.openxmlformats.org/drawingml/2006/main">
              <a:ext uri="{FF2B5EF4-FFF2-40B4-BE49-F238E27FC236}">
                <a16:creationId xmlns:a16="http://schemas.microsoft.com/office/drawing/2014/main" id="{FEB0937B-E79C-4475-B26E-876823F4501B}"/>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Original protocols and failures remain traceable. Instructor rules and genuine team verification still matter.</a:t>
            </a:r>
          </a:p>
        </p:txBody>
      </p:sp>
    </p:spTree>
    <p:extLst>
      <p:ext uri="{BB962C8B-B14F-4D97-AF65-F5344CB8AC3E}">
        <p14:creationId xmlns:p14="http://schemas.microsoft.com/office/powerpoint/2010/main" val="4393556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  Complete seed results">
            <a:extLst xmlns:a="http://schemas.openxmlformats.org/drawingml/2006/main">
              <a:ext uri="{FF2B5EF4-FFF2-40B4-BE49-F238E27FC236}">
                <a16:creationId xmlns:a16="http://schemas.microsoft.com/office/drawing/2014/main" id="{96BE265E-2610-4BC7-83E4-D65FE72199D5}"/>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Appendix  Complete seed results</a:t>
            </a:r>
          </a:p>
        </p:txBody>
      </p:sp>
      <p:sp>
        <p:nvSpPr>
          <p:cNvPr id="2" name="MR is in percent. Paired differences use percentag">
            <a:extLst xmlns:a="http://schemas.openxmlformats.org/drawingml/2006/main">
              <a:ext uri="{FF2B5EF4-FFF2-40B4-BE49-F238E27FC236}">
                <a16:creationId xmlns:a16="http://schemas.microsoft.com/office/drawing/2014/main" id="{609F7B31-DA8F-4080-A4F3-33066C1D6B79}"/>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MR is in percent. Paired differences use percentage points.</a:t>
            </a:r>
          </a:p>
        </p:txBody>
      </p:sp>
      <p:sp>
        <p:nvSpPr>
          <p:cNvPr id="3" name="8">
            <a:extLst xmlns:a="http://schemas.openxmlformats.org/drawingml/2006/main">
              <a:ext uri="{FF2B5EF4-FFF2-40B4-BE49-F238E27FC236}">
                <a16:creationId xmlns:a16="http://schemas.microsoft.com/office/drawing/2014/main" id="{46575AE3-1520-490B-8217-AD6C922485E5}"/>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9A8463A1-CDDD-4194-8D80-49FBB1F670F8}"/>
              </a:ext>
            </a:extLst>
          </p:cNvPr>
          <p:cNvGraphicFramePr/>
          <p:nvPr/>
        </p:nvGraphicFramePr>
        <p:xfrm>
          <a:off xmlns:a="http://schemas.openxmlformats.org/drawingml/2006/main" x="609600" y="2047875"/>
          <a:ext xmlns:a="http://schemas.openxmlformats.org/drawingml/2006/main" cx="10972800" cy="1600200"/>
        </p:xfrm>
        <a:graphic xmlns:a="http://schemas.openxmlformats.org/drawingml/2006/main">
          <a:graphicData uri="http://schemas.openxmlformats.org/drawingml/2006/table">
            <a:tbl>
              <a:tblPr firstRow="1" bandRow="0"/>
              <a:tblGrid>
                <a:gridCol w="2000250"/>
                <a:gridCol w="2990850"/>
                <a:gridCol w="2990850"/>
                <a:gridCol w="2990850"/>
              </a:tblGrid>
              <a:tr h="400050">
                <a:tc>
                  <a:txBody>
                    <a:bodyPr wrap="square" lIns="95250" tIns="57150" rIns="95250" bIns="57150">
                      <a:noAutofit/>
                    </a:bodyPr>
                    <a:lstStyle/>
                    <a:p>
                      <a:pPr algn="l"/>
                      <a:r>
                        <a:rPr sz="1725" b="1">
                          <a:solidFill>
                            <a:srgbClr val="142E43"/>
                          </a:solidFill>
                          <a:latin typeface="Arial"/>
                          <a:ea typeface="Arial"/>
                          <a:cs typeface="Arial"/>
                        </a:rPr>
                        <a:t>Seed</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Learned MR</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Random MR</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Difference pp</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00050">
                <a:tc>
                  <a:txBody>
                    <a:bodyPr wrap="square" lIns="95250" tIns="57150" rIns="95250" bIns="57150">
                      <a:noAutofit/>
                    </a:bodyPr>
                    <a:lstStyle/>
                    <a:p>
                      <a:pPr algn="l"/>
                      <a:r>
                        <a:rPr sz="1800" b="0">
                          <a:solidFill>
                            <a:srgbClr val="142E43"/>
                          </a:solidFill>
                          <a:latin typeface="Arial"/>
                          <a:ea typeface="Arial"/>
                          <a:cs typeface="Arial"/>
                        </a:rPr>
                        <a:t>0</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44.2891</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39.0870</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5.2021</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00050">
                <a:tc>
                  <a:txBody>
                    <a:bodyPr wrap="square" lIns="95250" tIns="57150" rIns="95250" bIns="57150">
                      <a:noAutofit/>
                    </a:bodyPr>
                    <a:lstStyle/>
                    <a:p>
                      <a:pPr algn="l"/>
                      <a:r>
                        <a:rPr sz="1800" b="0">
                          <a:solidFill>
                            <a:srgbClr val="142E43"/>
                          </a:solidFill>
                          <a:latin typeface="Arial"/>
                          <a:ea typeface="Arial"/>
                          <a:cs typeface="Arial"/>
                        </a:rPr>
                        <a:t>1</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42.8816</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41.6262</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1.2553</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00050">
                <a:tc>
                  <a:txBody>
                    <a:bodyPr wrap="square" lIns="95250" tIns="57150" rIns="95250" bIns="57150">
                      <a:noAutofit/>
                    </a:bodyPr>
                    <a:lstStyle/>
                    <a:p>
                      <a:pPr algn="l"/>
                      <a:r>
                        <a:rPr sz="1800" b="0">
                          <a:solidFill>
                            <a:srgbClr val="142E43"/>
                          </a:solidFill>
                          <a:latin typeface="Arial"/>
                          <a:ea typeface="Arial"/>
                          <a:cs typeface="Arial"/>
                        </a:rPr>
                        <a:t>2</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44.0133</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39.8573</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4.1560</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graphicFrame>
        <p:nvGraphicFramePr>
          <p:cNvPr id="5" name="">
            <a:extLst xmlns:a="http://schemas.openxmlformats.org/drawingml/2006/main">
              <a:ext uri="{FF2B5EF4-FFF2-40B4-BE49-F238E27FC236}">
                <a16:creationId xmlns:a16="http://schemas.microsoft.com/office/drawing/2014/main" id="{B240A6DF-E176-4DD6-B5DE-5F3E1A1AAFDC}"/>
              </a:ext>
            </a:extLst>
          </p:cNvPr>
          <p:cNvGraphicFramePr/>
          <p:nvPr/>
        </p:nvGraphicFramePr>
        <p:xfrm>
          <a:off xmlns:a="http://schemas.openxmlformats.org/drawingml/2006/main" x="609600" y="3981450"/>
          <a:ext xmlns:a="http://schemas.openxmlformats.org/drawingml/2006/main" cx="10972800" cy="1600200"/>
        </p:xfrm>
        <a:graphic xmlns:a="http://schemas.openxmlformats.org/drawingml/2006/main">
          <a:graphicData uri="http://schemas.openxmlformats.org/drawingml/2006/table">
            <a:tbl>
              <a:tblPr firstRow="1" bandRow="0"/>
              <a:tblGrid>
                <a:gridCol w="2000250"/>
                <a:gridCol w="2990850"/>
                <a:gridCol w="2990850"/>
                <a:gridCol w="2990850"/>
              </a:tblGrid>
              <a:tr h="400050">
                <a:tc>
                  <a:txBody>
                    <a:bodyPr wrap="square" lIns="95250" tIns="57150" rIns="95250" bIns="57150">
                      <a:noAutofit/>
                    </a:bodyPr>
                    <a:lstStyle/>
                    <a:p>
                      <a:pPr algn="l"/>
                      <a:r>
                        <a:rPr sz="1725" b="1">
                          <a:solidFill>
                            <a:srgbClr val="142E43"/>
                          </a:solidFill>
                          <a:latin typeface="Arial"/>
                          <a:ea typeface="Arial"/>
                          <a:cs typeface="Arial"/>
                        </a:rPr>
                        <a:t>Seed</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Pilot baseline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Coverage</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Size sampling</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00050">
                <a:tc>
                  <a:txBody>
                    <a:bodyPr wrap="square" lIns="95250" tIns="57150" rIns="95250" bIns="57150">
                      <a:noAutofit/>
                    </a:bodyPr>
                    <a:lstStyle/>
                    <a:p>
                      <a:pPr algn="l"/>
                      <a:r>
                        <a:rPr sz="1800" b="0">
                          <a:solidFill>
                            <a:srgbClr val="142E43"/>
                          </a:solidFill>
                          <a:latin typeface="Arial"/>
                          <a:ea typeface="Arial"/>
                          <a:cs typeface="Arial"/>
                        </a:rPr>
                        <a:t>3</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97.8002</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97.5252</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97.1586</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00050">
                <a:tc>
                  <a:txBody>
                    <a:bodyPr wrap="square" lIns="95250" tIns="57150" rIns="95250" bIns="57150">
                      <a:noAutofit/>
                    </a:bodyPr>
                    <a:lstStyle/>
                    <a:p>
                      <a:pPr algn="l"/>
                      <a:r>
                        <a:rPr sz="1800" b="0">
                          <a:solidFill>
                            <a:srgbClr val="142E43"/>
                          </a:solidFill>
                          <a:latin typeface="Arial"/>
                          <a:ea typeface="Arial"/>
                          <a:cs typeface="Arial"/>
                        </a:rPr>
                        <a:t>4</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97.8002</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97.6169</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96.9753</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00050">
                <a:tc>
                  <a:txBody>
                    <a:bodyPr wrap="square" lIns="95250" tIns="57150" rIns="95250" bIns="57150">
                      <a:noAutofit/>
                    </a:bodyPr>
                    <a:lstStyle/>
                    <a:p>
                      <a:pPr algn="l"/>
                      <a:r>
                        <a:rPr sz="1800" b="0">
                          <a:solidFill>
                            <a:srgbClr val="142E43"/>
                          </a:solidFill>
                          <a:latin typeface="Arial"/>
                          <a:ea typeface="Arial"/>
                          <a:cs typeface="Arial"/>
                        </a:rPr>
                        <a:t>5</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97.4335</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97.3419</a:t>
                      </a:r>
                    </a:p>
                  </a:txBody>
                  <a:tcPr marL="91440" marR="91440" marT="45720" marB="45720" anchor="ctr">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97.2502</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6" name="Top: frozen GAGA test. Bottom: earlier GCN validat">
            <a:extLst xmlns:a="http://schemas.openxmlformats.org/drawingml/2006/main">
              <a:ext uri="{FF2B5EF4-FFF2-40B4-BE49-F238E27FC236}">
                <a16:creationId xmlns:a16="http://schemas.microsoft.com/office/drawing/2014/main" id="{BD0A4690-1B2E-4231-93F2-78F05735BF20}"/>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Top: frozen GAGA test. Bottom: earlier GCN validation pilots. Their cohorts and detectors differ.</a:t>
            </a:r>
          </a:p>
        </p:txBody>
      </p:sp>
    </p:spTree>
    <p:extLst>
      <p:ext uri="{BB962C8B-B14F-4D97-AF65-F5344CB8AC3E}">
        <p14:creationId xmlns:p14="http://schemas.microsoft.com/office/powerpoint/2010/main" val="10295483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ppendix  Residual concentration">
            <a:extLst xmlns:a="http://schemas.openxmlformats.org/drawingml/2006/main">
              <a:ext uri="{FF2B5EF4-FFF2-40B4-BE49-F238E27FC236}">
                <a16:creationId xmlns:a16="http://schemas.microsoft.com/office/drawing/2014/main" id="{FD18341D-EA64-4CF2-A431-94FD256883D9}"/>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Appendix  Residual concentration</a:t>
            </a:r>
          </a:p>
        </p:txBody>
      </p:sp>
      <p:sp>
        <p:nvSpPr>
          <p:cNvPr id="2" name="Residual means a target occurrence still classifie">
            <a:extLst xmlns:a="http://schemas.openxmlformats.org/drawingml/2006/main">
              <a:ext uri="{FF2B5EF4-FFF2-40B4-BE49-F238E27FC236}">
                <a16:creationId xmlns:a16="http://schemas.microsoft.com/office/drawing/2014/main" id="{610BC61B-5AD1-4707-AC83-E37486FAD247}"/>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Residual means a target occurrence still classified correctly after attack.</a:t>
            </a:r>
          </a:p>
        </p:txBody>
      </p:sp>
      <p:sp>
        <p:nvSpPr>
          <p:cNvPr id="3" name="9">
            <a:extLst xmlns:a="http://schemas.openxmlformats.org/drawingml/2006/main">
              <a:ext uri="{FF2B5EF4-FFF2-40B4-BE49-F238E27FC236}">
                <a16:creationId xmlns:a16="http://schemas.microsoft.com/office/drawing/2014/main" id="{CC5AC2CB-0C7B-4D1E-9F66-0D8AAA981A34}"/>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9</a:t>
            </a:r>
          </a:p>
        </p:txBody>
      </p:sp>
      <p:graphicFrame>
        <p:nvGraphicFramePr>
          <p:cNvPr id="4" name="Chart">
            <a:extLst xmlns:a="http://schemas.openxmlformats.org/drawingml/2006/main">
              <a:ext uri="{FF2B5EF4-FFF2-40B4-BE49-F238E27FC236}">
                <a16:creationId xmlns:a16="http://schemas.microsoft.com/office/drawing/2014/main" id="{762536DE-8E45-4C2C-AEC9-012FB65A432F}"/>
              </a:ext>
            </a:extLst>
          </p:cNvPr>
          <p:cNvGraphicFramePr/>
          <p:nvPr/>
        </p:nvGraphicFramePr>
        <p:xfrm>
          <a:off xmlns:a="http://schemas.openxmlformats.org/drawingml/2006/main" x="609600" y="2095500"/>
          <a:ext xmlns:a="http://schemas.openxmlformats.org/drawingml/2006/main" cx="6667500" cy="3333750"/>
        </p:xfrm>
        <a:graphic xmlns:a="http://schemas.openxmlformats.org/drawingml/2006/main">
          <a:graphicData uri="http://schemas.openxmlformats.org/drawingml/2006/chart">
            <c:chart xmlns:r="http://schemas.openxmlformats.org/officeDocument/2006/relationships" xmlns:c="http://schemas.openxmlformats.org/drawingml/2006/chart" r:id="Rdb3dd02553a640c7"/>
          </a:graphicData>
        </a:graphic>
      </p:graphicFrame>
      <p:sp>
        <p:nvSpPr>
          <p:cNvPr id="5" name="2,727 / 14,889 exposures&#10;432 / 438 residuals">
            <a:extLst xmlns:a="http://schemas.openxmlformats.org/drawingml/2006/main">
              <a:ext uri="{FF2B5EF4-FFF2-40B4-BE49-F238E27FC236}">
                <a16:creationId xmlns:a16="http://schemas.microsoft.com/office/drawing/2014/main" id="{AA6ADA26-2686-49BB-A9F3-760E2C9A349A}"/>
              </a:ext>
            </a:extLst>
          </p:cNvPr>
          <p:cNvSpPr>
            <a:spLocks xmlns:a="http://schemas.openxmlformats.org/drawingml/2006/main" noGrp="1"/>
          </p:cNvSpPr>
          <p:nvPr/>
        </p:nvSpPr>
        <p:spPr>
          <a:xfrm xmlns:a="http://schemas.openxmlformats.org/drawingml/2006/main">
            <a:off x="7810500" y="2286000"/>
            <a:ext cx="3762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2E43"/>
                </a:solidFill>
                <a:latin typeface="Arial"/>
                <a:ea typeface="Arial"/>
                <a:cs typeface="Arial"/>
              </a:defRPr>
            </a:defPPr>
            <a:lvl1pPr>
              <a:defRPr sz="2175" b="1">
                <a:solidFill>
                  <a:srgbClr val="142E43"/>
                </a:solidFill>
                <a:latin typeface="Arial"/>
                <a:ea typeface="Arial"/>
                <a:cs typeface="Arial"/>
              </a:defRPr>
            </a:lvl1pPr>
            <a:lvl2pPr>
              <a:defRPr sz="2175" b="1">
                <a:solidFill>
                  <a:srgbClr val="142E43"/>
                </a:solidFill>
                <a:latin typeface="Arial"/>
                <a:ea typeface="Arial"/>
                <a:cs typeface="Arial"/>
              </a:defRPr>
            </a:lvl2pPr>
            <a:lvl3pPr>
              <a:defRPr sz="2175" b="1">
                <a:solidFill>
                  <a:srgbClr val="142E43"/>
                </a:solidFill>
                <a:latin typeface="Arial"/>
                <a:ea typeface="Arial"/>
                <a:cs typeface="Arial"/>
              </a:defRPr>
            </a:lvl3pPr>
            <a:lvl4pPr>
              <a:defRPr sz="2175" b="1">
                <a:solidFill>
                  <a:srgbClr val="142E43"/>
                </a:solidFill>
                <a:latin typeface="Arial"/>
                <a:ea typeface="Arial"/>
                <a:cs typeface="Arial"/>
              </a:defRPr>
            </a:lvl4pPr>
            <a:lvl5pPr>
              <a:defRPr sz="2175" b="1">
                <a:solidFill>
                  <a:srgbClr val="142E43"/>
                </a:solidFill>
                <a:latin typeface="Arial"/>
                <a:ea typeface="Arial"/>
                <a:cs typeface="Arial"/>
              </a:defRPr>
            </a:lvl5pPr>
            <a:lvl6pPr>
              <a:defRPr sz="2175" b="1">
                <a:solidFill>
                  <a:srgbClr val="142E43"/>
                </a:solidFill>
                <a:latin typeface="Arial"/>
                <a:ea typeface="Arial"/>
                <a:cs typeface="Arial"/>
              </a:defRPr>
            </a:lvl6pPr>
            <a:lvl7pPr>
              <a:defRPr sz="2175" b="1">
                <a:solidFill>
                  <a:srgbClr val="142E43"/>
                </a:solidFill>
                <a:latin typeface="Arial"/>
                <a:ea typeface="Arial"/>
                <a:cs typeface="Arial"/>
              </a:defRPr>
            </a:lvl7pPr>
            <a:lvl8pPr>
              <a:defRPr sz="2175" b="1">
                <a:solidFill>
                  <a:srgbClr val="142E43"/>
                </a:solidFill>
                <a:latin typeface="Arial"/>
                <a:ea typeface="Arial"/>
                <a:cs typeface="Arial"/>
              </a:defRPr>
            </a:lvl8pPr>
            <a:lvl9pPr>
              <a:defRPr sz="2175" b="1">
                <a:solidFill>
                  <a:srgbClr val="142E43"/>
                </a:solidFill>
                <a:latin typeface="Arial"/>
                <a:ea typeface="Arial"/>
                <a:cs typeface="Arial"/>
              </a:defRPr>
            </a:lvl9pPr>
          </a:lstStyle>
          <a:p xmlns:a="http://schemas.openxmlformats.org/drawingml/2006/main">
            <a:pPr>
              <a:defRPr sz="2175" b="1">
                <a:solidFill>
                  <a:srgbClr val="142E43"/>
                </a:solidFill>
                <a:latin typeface="Arial"/>
                <a:ea typeface="Arial"/>
                <a:cs typeface="Arial"/>
              </a:defRPr>
            </a:pPr>
            <a:r>
              <a:rPr sz="2175" b="1">
                <a:solidFill>
                  <a:srgbClr val="142E43"/>
                </a:solidFill>
                <a:latin typeface="Arial"/>
                <a:ea typeface="Arial"/>
                <a:cs typeface="Arial"/>
              </a:rPr>
              <a:t>2,727 / 14,889 exposures</a:t>
            </a:r>
          </a:p>
          <a:p xmlns:a="http://schemas.openxmlformats.org/drawingml/2006/main">
            <a:pPr>
              <a:defRPr sz="2175" b="1">
                <a:solidFill>
                  <a:srgbClr val="142E43"/>
                </a:solidFill>
                <a:latin typeface="Arial"/>
                <a:ea typeface="Arial"/>
                <a:cs typeface="Arial"/>
              </a:defRPr>
            </a:pPr>
            <a:r>
              <a:rPr sz="2175" b="1">
                <a:solidFill>
                  <a:srgbClr val="142E43"/>
                </a:solidFill>
                <a:latin typeface="Arial"/>
                <a:ea typeface="Arial"/>
                <a:cs typeface="Arial"/>
              </a:rPr>
              <a:t>432 / 438 residuals</a:t>
            </a:r>
          </a:p>
        </p:txBody>
      </p:sp>
      <p:sp>
        <p:nvSpPr>
          <p:cNvPr id="6" name="Residual rate&#10;15.84% in this bin&#10;0.0493% elsewhere">
            <a:extLst xmlns:a="http://schemas.openxmlformats.org/drawingml/2006/main">
              <a:ext uri="{FF2B5EF4-FFF2-40B4-BE49-F238E27FC236}">
                <a16:creationId xmlns:a16="http://schemas.microsoft.com/office/drawing/2014/main" id="{4B3521B7-B554-4EEA-81F1-6C23CC49D806}"/>
              </a:ext>
            </a:extLst>
          </p:cNvPr>
          <p:cNvSpPr>
            <a:spLocks xmlns:a="http://schemas.openxmlformats.org/drawingml/2006/main" noGrp="1"/>
          </p:cNvSpPr>
          <p:nvPr/>
        </p:nvSpPr>
        <p:spPr>
          <a:xfrm xmlns:a="http://schemas.openxmlformats.org/drawingml/2006/main">
            <a:off x="7810500" y="3810000"/>
            <a:ext cx="3762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E43"/>
                </a:solidFill>
                <a:latin typeface="Arial"/>
                <a:ea typeface="Arial"/>
                <a:cs typeface="Arial"/>
              </a:defRPr>
            </a:defPPr>
            <a:lvl1pPr>
              <a:defRPr sz="2100" b="0">
                <a:solidFill>
                  <a:srgbClr val="142E43"/>
                </a:solidFill>
                <a:latin typeface="Arial"/>
                <a:ea typeface="Arial"/>
                <a:cs typeface="Arial"/>
              </a:defRPr>
            </a:lvl1pPr>
            <a:lvl2pPr>
              <a:defRPr sz="2100" b="0">
                <a:solidFill>
                  <a:srgbClr val="142E43"/>
                </a:solidFill>
                <a:latin typeface="Arial"/>
                <a:ea typeface="Arial"/>
                <a:cs typeface="Arial"/>
              </a:defRPr>
            </a:lvl2pPr>
            <a:lvl3pPr>
              <a:defRPr sz="2100" b="0">
                <a:solidFill>
                  <a:srgbClr val="142E43"/>
                </a:solidFill>
                <a:latin typeface="Arial"/>
                <a:ea typeface="Arial"/>
                <a:cs typeface="Arial"/>
              </a:defRPr>
            </a:lvl3pPr>
            <a:lvl4pPr>
              <a:defRPr sz="2100" b="0">
                <a:solidFill>
                  <a:srgbClr val="142E43"/>
                </a:solidFill>
                <a:latin typeface="Arial"/>
                <a:ea typeface="Arial"/>
                <a:cs typeface="Arial"/>
              </a:defRPr>
            </a:lvl4pPr>
            <a:lvl5pPr>
              <a:defRPr sz="2100" b="0">
                <a:solidFill>
                  <a:srgbClr val="142E43"/>
                </a:solidFill>
                <a:latin typeface="Arial"/>
                <a:ea typeface="Arial"/>
                <a:cs typeface="Arial"/>
              </a:defRPr>
            </a:lvl5pPr>
            <a:lvl6pPr>
              <a:defRPr sz="2100" b="0">
                <a:solidFill>
                  <a:srgbClr val="142E43"/>
                </a:solidFill>
                <a:latin typeface="Arial"/>
                <a:ea typeface="Arial"/>
                <a:cs typeface="Arial"/>
              </a:defRPr>
            </a:lvl6pPr>
            <a:lvl7pPr>
              <a:defRPr sz="2100" b="0">
                <a:solidFill>
                  <a:srgbClr val="142E43"/>
                </a:solidFill>
                <a:latin typeface="Arial"/>
                <a:ea typeface="Arial"/>
                <a:cs typeface="Arial"/>
              </a:defRPr>
            </a:lvl7pPr>
            <a:lvl8pPr>
              <a:defRPr sz="2100" b="0">
                <a:solidFill>
                  <a:srgbClr val="142E43"/>
                </a:solidFill>
                <a:latin typeface="Arial"/>
                <a:ea typeface="Arial"/>
                <a:cs typeface="Arial"/>
              </a:defRPr>
            </a:lvl8pPr>
            <a:lvl9pPr>
              <a:defRPr sz="2100" b="0">
                <a:solidFill>
                  <a:srgbClr val="142E43"/>
                </a:solidFill>
                <a:latin typeface="Arial"/>
                <a:ea typeface="Arial"/>
                <a:cs typeface="Arial"/>
              </a:defRPr>
            </a:lvl9pPr>
          </a:lstStyle>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Residual rate</a:t>
            </a:r>
          </a:p>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15.84% in this bin</a:t>
            </a:r>
          </a:p>
          <a:p xmlns:a="http://schemas.openxmlformats.org/drawingml/2006/main">
            <a:pPr>
              <a:defRPr sz="2100" b="0">
                <a:solidFill>
                  <a:srgbClr val="142E43"/>
                </a:solidFill>
                <a:latin typeface="Arial"/>
                <a:ea typeface="Arial"/>
                <a:cs typeface="Arial"/>
              </a:defRPr>
            </a:pPr>
            <a:r>
              <a:rPr sz="2100" b="0">
                <a:solidFill>
                  <a:srgbClr val="142E43"/>
                </a:solidFill>
                <a:latin typeface="Arial"/>
                <a:ea typeface="Arial"/>
                <a:cs typeface="Arial"/>
              </a:rPr>
              <a:t>0.0493% elsewhere</a:t>
            </a:r>
          </a:p>
        </p:txBody>
      </p:sp>
      <p:sp>
        <p:nvSpPr>
          <p:cNvPr id="7" name="Three seed passes on selected GCN validation check">
            <a:extLst xmlns:a="http://schemas.openxmlformats.org/drawingml/2006/main">
              <a:ext uri="{FF2B5EF4-FFF2-40B4-BE49-F238E27FC236}">
                <a16:creationId xmlns:a16="http://schemas.microsoft.com/office/drawing/2014/main" id="{79B26FC8-A8E4-4097-A113-F2AB083E3743}"/>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Three seed passes on selected GCN validation checkpoints. Budget and degree are confounded.</a:t>
            </a:r>
          </a:p>
        </p:txBody>
      </p:sp>
    </p:spTree>
    <p:extLst>
      <p:ext uri="{BB962C8B-B14F-4D97-AF65-F5344CB8AC3E}">
        <p14:creationId xmlns:p14="http://schemas.microsoft.com/office/powerpoint/2010/main" val="10436150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  Fixed-feature endpoint oracle">
            <a:extLst xmlns:a="http://schemas.openxmlformats.org/drawingml/2006/main">
              <a:ext uri="{FF2B5EF4-FFF2-40B4-BE49-F238E27FC236}">
                <a16:creationId xmlns:a16="http://schemas.microsoft.com/office/drawing/2014/main" id="{4F70BF44-21A4-49F0-899A-89EB75498010}"/>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Appendix  Fixed-feature endpoint oracle</a:t>
            </a:r>
          </a:p>
        </p:txBody>
      </p:sp>
      <p:sp>
        <p:nvSpPr>
          <p:cNvPr id="2" name="16 validation groups and 3 checkpoints give 48 cas">
            <a:extLst xmlns:a="http://schemas.openxmlformats.org/drawingml/2006/main">
              <a:ext uri="{FF2B5EF4-FFF2-40B4-BE49-F238E27FC236}">
                <a16:creationId xmlns:a16="http://schemas.microsoft.com/office/drawing/2014/main" id="{B36B03D9-0134-4B41-B0F8-474F922EDCD0}"/>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16 validation groups and 3 checkpoints give 48 cases. Features remain fixed within each case.</a:t>
            </a:r>
          </a:p>
        </p:txBody>
      </p:sp>
      <p:sp>
        <p:nvSpPr>
          <p:cNvPr id="3" name="10">
            <a:extLst xmlns:a="http://schemas.openxmlformats.org/drawingml/2006/main">
              <a:ext uri="{FF2B5EF4-FFF2-40B4-BE49-F238E27FC236}">
                <a16:creationId xmlns:a16="http://schemas.microsoft.com/office/drawing/2014/main" id="{2AFD2044-9D7B-45B0-84CB-F2961FBA55B6}"/>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D014155C-FF3E-4C2D-8BE0-489C53BD41DF}"/>
              </a:ext>
            </a:extLst>
          </p:cNvPr>
          <p:cNvGraphicFramePr/>
          <p:nvPr/>
        </p:nvGraphicFramePr>
        <p:xfrm>
          <a:off xmlns:a="http://schemas.openxmlformats.org/drawingml/2006/main" x="609600" y="2095500"/>
          <a:ext xmlns:a="http://schemas.openxmlformats.org/drawingml/2006/main" cx="10972800" cy="2476500"/>
        </p:xfrm>
        <a:graphic xmlns:a="http://schemas.openxmlformats.org/drawingml/2006/main">
          <a:graphicData uri="http://schemas.openxmlformats.org/drawingml/2006/table">
            <a:tbl>
              <a:tblPr firstRow="1" bandRow="0"/>
              <a:tblGrid>
                <a:gridCol w="7000875"/>
                <a:gridCol w="3971925"/>
              </a:tblGrid>
              <a:tr h="495300">
                <a:tc>
                  <a:txBody>
                    <a:bodyPr wrap="square" lIns="95250" tIns="57150" rIns="95250" bIns="57150">
                      <a:noAutofit/>
                    </a:bodyPr>
                    <a:lstStyle/>
                    <a:p>
                      <a:pPr algn="l"/>
                      <a:r>
                        <a:rPr sz="1875" b="1">
                          <a:solidFill>
                            <a:srgbClr val="142E43"/>
                          </a:solidFill>
                          <a:latin typeface="Arial"/>
                          <a:ea typeface="Arial"/>
                          <a:cs typeface="Arial"/>
                        </a:rPr>
                        <a:t>Quantity</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875" b="1">
                          <a:solidFill>
                            <a:srgbClr val="142E43"/>
                          </a:solidFill>
                          <a:latin typeface="Arial"/>
                          <a:ea typeface="Arial"/>
                          <a:cs typeface="Arial"/>
                        </a:rPr>
                        <a:t>Selected CPU cohort</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95300">
                <a:tc>
                  <a:txBody>
                    <a:bodyPr wrap="square" lIns="95250" tIns="57150" rIns="95250" bIns="57150">
                      <a:noAutofit/>
                    </a:bodyPr>
                    <a:lstStyle/>
                    <a:p>
                      <a:pPr algn="l"/>
                      <a:r>
                        <a:rPr sz="1950" b="0">
                          <a:solidFill>
                            <a:srgbClr val="142E43"/>
                          </a:solidFill>
                          <a:latin typeface="Arial"/>
                          <a:ea typeface="Arial"/>
                          <a:cs typeface="Arial"/>
                        </a:rPr>
                        <a:t>Clean detector-correct</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950" b="0">
                          <a:solidFill>
                            <a:srgbClr val="142E43"/>
                          </a:solidFill>
                          <a:latin typeface="Arial"/>
                          <a:ea typeface="Arial"/>
                          <a:cs typeface="Arial"/>
                        </a:rPr>
                        <a:t>186 /243</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95300">
                <a:tc>
                  <a:txBody>
                    <a:bodyPr wrap="square" lIns="95250" tIns="57150" rIns="95250" bIns="57150">
                      <a:noAutofit/>
                    </a:bodyPr>
                    <a:lstStyle/>
                    <a:p>
                      <a:pPr algn="l"/>
                      <a:r>
                        <a:rPr sz="1950" b="0">
                          <a:solidFill>
                            <a:srgbClr val="142E43"/>
                          </a:solidFill>
                          <a:latin typeface="Arial"/>
                          <a:ea typeface="Arial"/>
                          <a:cs typeface="Arial"/>
                        </a:rPr>
                        <a:t>Reconstructed residuals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950" b="0">
                          <a:solidFill>
                            <a:srgbClr val="142E43"/>
                          </a:solidFill>
                          <a:latin typeface="Arial"/>
                          <a:ea typeface="Arial"/>
                          <a:cs typeface="Arial"/>
                        </a:rPr>
                        <a:t>148 /243</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95300">
                <a:tc>
                  <a:txBody>
                    <a:bodyPr wrap="square" lIns="95250" tIns="57150" rIns="95250" bIns="57150">
                      <a:noAutofit/>
                    </a:bodyPr>
                    <a:lstStyle/>
                    <a:p>
                      <a:pPr algn="l"/>
                      <a:r>
                        <a:rPr sz="1950" b="0">
                          <a:solidFill>
                            <a:srgbClr val="142E43"/>
                          </a:solidFill>
                          <a:latin typeface="Arial"/>
                          <a:ea typeface="Arial"/>
                          <a:cs typeface="Arial"/>
                        </a:rPr>
                        <a:t>Restricted-oracle residuals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950" b="0">
                          <a:solidFill>
                            <a:srgbClr val="142E43"/>
                          </a:solidFill>
                          <a:latin typeface="Arial"/>
                          <a:ea typeface="Arial"/>
                          <a:cs typeface="Arial"/>
                        </a:rPr>
                        <a:t>141 /243</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95300">
                <a:tc>
                  <a:txBody>
                    <a:bodyPr wrap="square" lIns="95250" tIns="57150" rIns="95250" bIns="57150">
                      <a:noAutofit/>
                    </a:bodyPr>
                    <a:lstStyle/>
                    <a:p>
                      <a:pPr algn="l"/>
                      <a:r>
                        <a:rPr sz="1950" b="0">
                          <a:solidFill>
                            <a:srgbClr val="142E43"/>
                          </a:solidFill>
                          <a:latin typeface="Arial"/>
                          <a:ea typeface="Arial"/>
                          <a:cs typeface="Arial"/>
                        </a:rPr>
                        <a:t>Net extra incorrect occurrences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950" b="0">
                          <a:solidFill>
                            <a:srgbClr val="142E43"/>
                          </a:solidFill>
                          <a:latin typeface="Arial"/>
                          <a:ea typeface="Arial"/>
                          <a:cs typeface="Arial"/>
                        </a:rPr>
                        <a:t>7</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CPU oracle cases: 7. GPU eligibility opportunities">
            <a:extLst xmlns:a="http://schemas.openxmlformats.org/drawingml/2006/main">
              <a:ext uri="{FF2B5EF4-FFF2-40B4-BE49-F238E27FC236}">
                <a16:creationId xmlns:a16="http://schemas.microsoft.com/office/drawing/2014/main" id="{DB6087E3-56B1-4293-8D10-EA44A0C0CE34}"/>
              </a:ext>
            </a:extLst>
          </p:cNvPr>
          <p:cNvSpPr>
            <a:spLocks xmlns:a="http://schemas.openxmlformats.org/drawingml/2006/main" noGrp="1"/>
          </p:cNvSpPr>
          <p:nvPr/>
        </p:nvSpPr>
        <p:spPr>
          <a:xfrm xmlns:a="http://schemas.openxmlformats.org/drawingml/2006/main">
            <a:off x="609600" y="49530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E43"/>
                </a:solidFill>
                <a:latin typeface="Arial"/>
                <a:ea typeface="Arial"/>
                <a:cs typeface="Arial"/>
              </a:defRPr>
            </a:defPPr>
            <a:lvl1pPr>
              <a:defRPr sz="2100" b="1">
                <a:solidFill>
                  <a:srgbClr val="142E43"/>
                </a:solidFill>
                <a:latin typeface="Arial"/>
                <a:ea typeface="Arial"/>
                <a:cs typeface="Arial"/>
              </a:defRPr>
            </a:lvl1pPr>
            <a:lvl2pPr>
              <a:defRPr sz="2100" b="1">
                <a:solidFill>
                  <a:srgbClr val="142E43"/>
                </a:solidFill>
                <a:latin typeface="Arial"/>
                <a:ea typeface="Arial"/>
                <a:cs typeface="Arial"/>
              </a:defRPr>
            </a:lvl2pPr>
            <a:lvl3pPr>
              <a:defRPr sz="2100" b="1">
                <a:solidFill>
                  <a:srgbClr val="142E43"/>
                </a:solidFill>
                <a:latin typeface="Arial"/>
                <a:ea typeface="Arial"/>
                <a:cs typeface="Arial"/>
              </a:defRPr>
            </a:lvl3pPr>
            <a:lvl4pPr>
              <a:defRPr sz="2100" b="1">
                <a:solidFill>
                  <a:srgbClr val="142E43"/>
                </a:solidFill>
                <a:latin typeface="Arial"/>
                <a:ea typeface="Arial"/>
                <a:cs typeface="Arial"/>
              </a:defRPr>
            </a:lvl4pPr>
            <a:lvl5pPr>
              <a:defRPr sz="2100" b="1">
                <a:solidFill>
                  <a:srgbClr val="142E43"/>
                </a:solidFill>
                <a:latin typeface="Arial"/>
                <a:ea typeface="Arial"/>
                <a:cs typeface="Arial"/>
              </a:defRPr>
            </a:lvl5pPr>
            <a:lvl6pPr>
              <a:defRPr sz="2100" b="1">
                <a:solidFill>
                  <a:srgbClr val="142E43"/>
                </a:solidFill>
                <a:latin typeface="Arial"/>
                <a:ea typeface="Arial"/>
                <a:cs typeface="Arial"/>
              </a:defRPr>
            </a:lvl6pPr>
            <a:lvl7pPr>
              <a:defRPr sz="2100" b="1">
                <a:solidFill>
                  <a:srgbClr val="142E43"/>
                </a:solidFill>
                <a:latin typeface="Arial"/>
                <a:ea typeface="Arial"/>
                <a:cs typeface="Arial"/>
              </a:defRPr>
            </a:lvl7pPr>
            <a:lvl8pPr>
              <a:defRPr sz="2100" b="1">
                <a:solidFill>
                  <a:srgbClr val="142E43"/>
                </a:solidFill>
                <a:latin typeface="Arial"/>
                <a:ea typeface="Arial"/>
                <a:cs typeface="Arial"/>
              </a:defRPr>
            </a:lvl8pPr>
            <a:lvl9pPr>
              <a:defRPr sz="2100" b="1">
                <a:solidFill>
                  <a:srgbClr val="142E43"/>
                </a:solidFill>
                <a:latin typeface="Arial"/>
                <a:ea typeface="Arial"/>
                <a:cs typeface="Arial"/>
              </a:defRPr>
            </a:lvl9pPr>
          </a:lstStyle>
          <a:p xmlns:a="http://schemas.openxmlformats.org/drawingml/2006/main">
            <a:pPr>
              <a:defRPr sz="2100" b="1">
                <a:solidFill>
                  <a:srgbClr val="142E43"/>
                </a:solidFill>
                <a:latin typeface="Arial"/>
                <a:ea typeface="Arial"/>
                <a:cs typeface="Arial"/>
              </a:defRPr>
            </a:pPr>
            <a:r>
              <a:rPr sz="2100" b="1">
                <a:solidFill>
                  <a:srgbClr val="142E43"/>
                </a:solidFill>
                <a:latin typeface="Arial"/>
                <a:ea typeface="Arial"/>
                <a:cs typeface="Arial"/>
              </a:rPr>
              <a:t>CPU oracle cases: 7. GPU eligibility opportunities: 6.</a:t>
            </a:r>
          </a:p>
        </p:txBody>
      </p:sp>
      <p:sp>
        <p:nvSpPr>
          <p:cNvPr id="6" name="Optimistic selected-subset headroom. No trained me">
            <a:extLst xmlns:a="http://schemas.openxmlformats.org/drawingml/2006/main">
              <a:ext uri="{FF2B5EF4-FFF2-40B4-BE49-F238E27FC236}">
                <a16:creationId xmlns:a16="http://schemas.microsoft.com/office/drawing/2014/main" id="{9C3C7256-58F6-48DF-B3D6-12E2BA366A39}"/>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Optimistic selected-subset headroom. No trained method, whole-validation gain or victim-transfer result.</a:t>
            </a:r>
          </a:p>
        </p:txBody>
      </p:sp>
    </p:spTree>
    <p:extLst>
      <p:ext uri="{BB962C8B-B14F-4D97-AF65-F5344CB8AC3E}">
        <p14:creationId xmlns:p14="http://schemas.microsoft.com/office/powerpoint/2010/main" val="16297036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ppendix  Ties and generation differences">
            <a:extLst xmlns:a="http://schemas.openxmlformats.org/drawingml/2006/main">
              <a:ext uri="{FF2B5EF4-FFF2-40B4-BE49-F238E27FC236}">
                <a16:creationId xmlns:a16="http://schemas.microsoft.com/office/drawing/2014/main" id="{7DD3D1F4-074A-4B97-96CC-24834A096B65}"/>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Appendix  Ties and generation differences</a:t>
            </a:r>
          </a:p>
        </p:txBody>
      </p:sp>
      <p:sp>
        <p:nvSpPr>
          <p:cNvPr id="2" name="Observed reference behavior does not establish the">
            <a:extLst xmlns:a="http://schemas.openxmlformats.org/drawingml/2006/main">
              <a:ext uri="{FF2B5EF4-FFF2-40B4-BE49-F238E27FC236}">
                <a16:creationId xmlns:a16="http://schemas.microsoft.com/office/drawing/2014/main" id="{1567399B-621B-40CB-8E50-D08D27958FCD}"/>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Observed reference behavior does not establish the cause of every real generator difference.</a:t>
            </a:r>
          </a:p>
        </p:txBody>
      </p:sp>
      <p:sp>
        <p:nvSpPr>
          <p:cNvPr id="3" name="11">
            <a:extLst xmlns:a="http://schemas.openxmlformats.org/drawingml/2006/main">
              <a:ext uri="{FF2B5EF4-FFF2-40B4-BE49-F238E27FC236}">
                <a16:creationId xmlns:a16="http://schemas.microsoft.com/office/drawing/2014/main" id="{C4F9B729-6D68-4DD1-8463-CACFA8E3B58C}"/>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96C87A6F-592D-480D-9788-59FAD49043C1}"/>
              </a:ext>
            </a:extLst>
          </p:cNvPr>
          <p:cNvGraphicFramePr/>
          <p:nvPr/>
        </p:nvGraphicFramePr>
        <p:xfrm>
          <a:off xmlns:a="http://schemas.openxmlformats.org/drawingml/2006/main" x="609600" y="2047875"/>
          <a:ext xmlns:a="http://schemas.openxmlformats.org/drawingml/2006/main" cx="10972800" cy="3067050"/>
        </p:xfrm>
        <a:graphic xmlns:a="http://schemas.openxmlformats.org/drawingml/2006/main">
          <a:graphicData uri="http://schemas.openxmlformats.org/drawingml/2006/table">
            <a:tbl>
              <a:tblPr firstRow="1" bandRow="0"/>
              <a:tblGrid>
                <a:gridCol w="8191500"/>
                <a:gridCol w="2781300"/>
              </a:tblGrid>
              <a:tr h="438150">
                <a:tc>
                  <a:txBody>
                    <a:bodyPr wrap="square" lIns="95250" tIns="57150" rIns="95250" bIns="57150">
                      <a:noAutofit/>
                    </a:bodyPr>
                    <a:lstStyle/>
                    <a:p>
                      <a:pPr algn="l"/>
                      <a:r>
                        <a:rPr sz="1725" b="1">
                          <a:solidFill>
                            <a:srgbClr val="142E43"/>
                          </a:solidFill>
                          <a:latin typeface="Arial"/>
                          <a:ea typeface="Arial"/>
                          <a:cs typeface="Arial"/>
                        </a:rPr>
                        <a:t>Observation</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Count</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38150">
                <a:tc>
                  <a:txBody>
                    <a:bodyPr wrap="square" lIns="95250" tIns="57150" rIns="95250" bIns="57150">
                      <a:noAutofit/>
                    </a:bodyPr>
                    <a:lstStyle/>
                    <a:p>
                      <a:pPr algn="l"/>
                      <a:r>
                        <a:rPr sz="1800" b="0">
                          <a:solidFill>
                            <a:srgbClr val="142E43"/>
                          </a:solidFill>
                          <a:latin typeface="Arial"/>
                          <a:ea typeface="Arial"/>
                          <a:cs typeface="Arial"/>
                        </a:rPr>
                        <a:t>Actual raw maximum ties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58 /96</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38150">
                <a:tc>
                  <a:txBody>
                    <a:bodyPr wrap="square" lIns="95250" tIns="57150" rIns="95250" bIns="57150">
                      <a:noAutofit/>
                    </a:bodyPr>
                    <a:lstStyle/>
                    <a:p>
                      <a:pPr algn="l"/>
                      <a:r>
                        <a:rPr sz="1800" b="0">
                          <a:solidFill>
                            <a:srgbClr val="142E43"/>
                          </a:solidFill>
                          <a:latin typeface="Arial"/>
                          <a:ea typeface="Arial"/>
                          <a:cs typeface="Arial"/>
                        </a:rPr>
                        <a:t>Actual target-probability ties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63 /96</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38150">
                <a:tc>
                  <a:txBody>
                    <a:bodyPr wrap="square" lIns="95250" tIns="57150" rIns="95250" bIns="57150">
                      <a:noAutofit/>
                    </a:bodyPr>
                    <a:lstStyle/>
                    <a:p>
                      <a:pPr algn="l"/>
                      <a:r>
                        <a:rPr sz="1800" b="0">
                          <a:solidFill>
                            <a:srgbClr val="142E43"/>
                          </a:solidFill>
                          <a:latin typeface="Arial"/>
                          <a:ea typeface="Arial"/>
                          <a:cs typeface="Arial"/>
                        </a:rPr>
                        <a:t>Same-vector top-k index differences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32 /96</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38150">
                <a:tc>
                  <a:txBody>
                    <a:bodyPr wrap="square" lIns="95250" tIns="57150" rIns="95250" bIns="57150">
                      <a:noAutofit/>
                    </a:bodyPr>
                    <a:lstStyle/>
                    <a:p>
                      <a:pPr algn="l"/>
                      <a:r>
                        <a:rPr sz="1800" b="0">
                          <a:solidFill>
                            <a:srgbClr val="142E43"/>
                          </a:solidFill>
                          <a:latin typeface="Arial"/>
                          <a:ea typeface="Arial"/>
                          <a:cs typeface="Arial"/>
                        </a:rPr>
                        <a:t>Natural probability vectors identical</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0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38150">
                <a:tc>
                  <a:txBody>
                    <a:bodyPr wrap="square" lIns="95250" tIns="57150" rIns="95250" bIns="57150">
                      <a:noAutofit/>
                    </a:bodyPr>
                    <a:lstStyle/>
                    <a:p>
                      <a:pPr algn="l"/>
                      <a:r>
                        <a:rPr sz="1800" b="0">
                          <a:solidFill>
                            <a:srgbClr val="142E43"/>
                          </a:solidFill>
                          <a:latin typeface="Arial"/>
                          <a:ea typeface="Arial"/>
                          <a:cs typeface="Arial"/>
                        </a:rPr>
                        <a:t>Natural endpoints different</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35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38150">
                <a:tc>
                  <a:txBody>
                    <a:bodyPr wrap="square" lIns="95250" tIns="57150" rIns="95250" bIns="57150">
                      <a:noAutofit/>
                    </a:bodyPr>
                    <a:lstStyle/>
                    <a:p>
                      <a:pPr algn="l"/>
                      <a:r>
                        <a:rPr sz="1800" b="0">
                          <a:solidFill>
                            <a:srgbClr val="142E43"/>
                          </a:solidFill>
                          <a:latin typeface="Arial"/>
                          <a:ea typeface="Arial"/>
                          <a:cs typeface="Arial"/>
                        </a:rPr>
                        <a:t>Candidate sets and order different</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36 /48</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Old-weight injected-role mathematical reference al">
            <a:extLst xmlns:a="http://schemas.openxmlformats.org/drawingml/2006/main">
              <a:ext uri="{FF2B5EF4-FFF2-40B4-BE49-F238E27FC236}">
                <a16:creationId xmlns:a16="http://schemas.microsoft.com/office/drawing/2014/main" id="{43D8AC88-E0F4-4BA3-9A4B-2289D2480F3F}"/>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Old-weight injected-role mathematical reference also ties in 36/96. No corrected attack was evaluated.</a:t>
            </a:r>
          </a:p>
        </p:txBody>
      </p:sp>
    </p:spTree>
    <p:extLst>
      <p:ext uri="{BB962C8B-B14F-4D97-AF65-F5344CB8AC3E}">
        <p14:creationId xmlns:p14="http://schemas.microsoft.com/office/powerpoint/2010/main" val="18246884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endix  Evidence and cost navigation">
            <a:extLst xmlns:a="http://schemas.openxmlformats.org/drawingml/2006/main">
              <a:ext uri="{FF2B5EF4-FFF2-40B4-BE49-F238E27FC236}">
                <a16:creationId xmlns:a16="http://schemas.microsoft.com/office/drawing/2014/main" id="{5CCB09D3-016E-4967-B0BE-4B5C533B0EC5}"/>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2E43"/>
                </a:solidFill>
                <a:latin typeface="Arial"/>
                <a:ea typeface="Arial"/>
                <a:cs typeface="Arial"/>
              </a:defRPr>
            </a:defPPr>
            <a:lvl1pPr>
              <a:defRPr sz="3300" b="1">
                <a:solidFill>
                  <a:srgbClr val="142E43"/>
                </a:solidFill>
                <a:latin typeface="Arial"/>
                <a:ea typeface="Arial"/>
                <a:cs typeface="Arial"/>
              </a:defRPr>
            </a:lvl1pPr>
            <a:lvl2pPr>
              <a:defRPr sz="3300" b="1">
                <a:solidFill>
                  <a:srgbClr val="142E43"/>
                </a:solidFill>
                <a:latin typeface="Arial"/>
                <a:ea typeface="Arial"/>
                <a:cs typeface="Arial"/>
              </a:defRPr>
            </a:lvl2pPr>
            <a:lvl3pPr>
              <a:defRPr sz="3300" b="1">
                <a:solidFill>
                  <a:srgbClr val="142E43"/>
                </a:solidFill>
                <a:latin typeface="Arial"/>
                <a:ea typeface="Arial"/>
                <a:cs typeface="Arial"/>
              </a:defRPr>
            </a:lvl3pPr>
            <a:lvl4pPr>
              <a:defRPr sz="3300" b="1">
                <a:solidFill>
                  <a:srgbClr val="142E43"/>
                </a:solidFill>
                <a:latin typeface="Arial"/>
                <a:ea typeface="Arial"/>
                <a:cs typeface="Arial"/>
              </a:defRPr>
            </a:lvl4pPr>
            <a:lvl5pPr>
              <a:defRPr sz="3300" b="1">
                <a:solidFill>
                  <a:srgbClr val="142E43"/>
                </a:solidFill>
                <a:latin typeface="Arial"/>
                <a:ea typeface="Arial"/>
                <a:cs typeface="Arial"/>
              </a:defRPr>
            </a:lvl5pPr>
            <a:lvl6pPr>
              <a:defRPr sz="3300" b="1">
                <a:solidFill>
                  <a:srgbClr val="142E43"/>
                </a:solidFill>
                <a:latin typeface="Arial"/>
                <a:ea typeface="Arial"/>
                <a:cs typeface="Arial"/>
              </a:defRPr>
            </a:lvl6pPr>
            <a:lvl7pPr>
              <a:defRPr sz="3300" b="1">
                <a:solidFill>
                  <a:srgbClr val="142E43"/>
                </a:solidFill>
                <a:latin typeface="Arial"/>
                <a:ea typeface="Arial"/>
                <a:cs typeface="Arial"/>
              </a:defRPr>
            </a:lvl7pPr>
            <a:lvl8pPr>
              <a:defRPr sz="3300" b="1">
                <a:solidFill>
                  <a:srgbClr val="142E43"/>
                </a:solidFill>
                <a:latin typeface="Arial"/>
                <a:ea typeface="Arial"/>
                <a:cs typeface="Arial"/>
              </a:defRPr>
            </a:lvl8pPr>
            <a:lvl9pPr>
              <a:defRPr sz="3300" b="1">
                <a:solidFill>
                  <a:srgbClr val="142E43"/>
                </a:solidFill>
                <a:latin typeface="Arial"/>
                <a:ea typeface="Arial"/>
                <a:cs typeface="Arial"/>
              </a:defRPr>
            </a:lvl9pPr>
          </a:lstStyle>
          <a:p xmlns:a="http://schemas.openxmlformats.org/drawingml/2006/main">
            <a:pPr>
              <a:defRPr sz="3300" b="1">
                <a:solidFill>
                  <a:srgbClr val="142E43"/>
                </a:solidFill>
                <a:latin typeface="Arial"/>
                <a:ea typeface="Arial"/>
                <a:cs typeface="Arial"/>
              </a:defRPr>
            </a:pPr>
            <a:r>
              <a:rPr sz="3300" b="1">
                <a:solidFill>
                  <a:srgbClr val="142E43"/>
                </a:solidFill>
                <a:latin typeface="Arial"/>
                <a:ea typeface="Arial"/>
                <a:cs typeface="Arial"/>
              </a:rPr>
              <a:t>Appendix  Evidence and cost navigation</a:t>
            </a:r>
          </a:p>
        </p:txBody>
      </p:sp>
      <p:sp>
        <p:nvSpPr>
          <p:cNvPr id="2" name="Recorded outputs, source mapping and hashes suppor">
            <a:extLst xmlns:a="http://schemas.openxmlformats.org/drawingml/2006/main">
              <a:ext uri="{FF2B5EF4-FFF2-40B4-BE49-F238E27FC236}">
                <a16:creationId xmlns:a16="http://schemas.microsoft.com/office/drawing/2014/main" id="{C818BD25-9B36-4734-8C00-B9845044555D}"/>
              </a:ext>
            </a:extLst>
          </p:cNvPr>
          <p:cNvSpPr>
            <a:spLocks xmlns:a="http://schemas.openxmlformats.org/drawingml/2006/main" noGrp="1"/>
          </p:cNvSpPr>
          <p:nvPr/>
        </p:nvSpPr>
        <p:spPr>
          <a:xfrm xmlns:a="http://schemas.openxmlformats.org/drawingml/2006/main">
            <a:off x="609600" y="1190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678"/>
                </a:solidFill>
                <a:latin typeface="Arial"/>
                <a:ea typeface="Arial"/>
                <a:cs typeface="Arial"/>
              </a:defRPr>
            </a:defPPr>
            <a:lvl1pPr>
              <a:defRPr sz="1875" b="0">
                <a:solidFill>
                  <a:srgbClr val="526678"/>
                </a:solidFill>
                <a:latin typeface="Arial"/>
                <a:ea typeface="Arial"/>
                <a:cs typeface="Arial"/>
              </a:defRPr>
            </a:lvl1pPr>
            <a:lvl2pPr>
              <a:defRPr sz="1875" b="0">
                <a:solidFill>
                  <a:srgbClr val="526678"/>
                </a:solidFill>
                <a:latin typeface="Arial"/>
                <a:ea typeface="Arial"/>
                <a:cs typeface="Arial"/>
              </a:defRPr>
            </a:lvl2pPr>
            <a:lvl3pPr>
              <a:defRPr sz="1875" b="0">
                <a:solidFill>
                  <a:srgbClr val="526678"/>
                </a:solidFill>
                <a:latin typeface="Arial"/>
                <a:ea typeface="Arial"/>
                <a:cs typeface="Arial"/>
              </a:defRPr>
            </a:lvl3pPr>
            <a:lvl4pPr>
              <a:defRPr sz="1875" b="0">
                <a:solidFill>
                  <a:srgbClr val="526678"/>
                </a:solidFill>
                <a:latin typeface="Arial"/>
                <a:ea typeface="Arial"/>
                <a:cs typeface="Arial"/>
              </a:defRPr>
            </a:lvl4pPr>
            <a:lvl5pPr>
              <a:defRPr sz="1875" b="0">
                <a:solidFill>
                  <a:srgbClr val="526678"/>
                </a:solidFill>
                <a:latin typeface="Arial"/>
                <a:ea typeface="Arial"/>
                <a:cs typeface="Arial"/>
              </a:defRPr>
            </a:lvl5pPr>
            <a:lvl6pPr>
              <a:defRPr sz="1875" b="0">
                <a:solidFill>
                  <a:srgbClr val="526678"/>
                </a:solidFill>
                <a:latin typeface="Arial"/>
                <a:ea typeface="Arial"/>
                <a:cs typeface="Arial"/>
              </a:defRPr>
            </a:lvl6pPr>
            <a:lvl7pPr>
              <a:defRPr sz="1875" b="0">
                <a:solidFill>
                  <a:srgbClr val="526678"/>
                </a:solidFill>
                <a:latin typeface="Arial"/>
                <a:ea typeface="Arial"/>
                <a:cs typeface="Arial"/>
              </a:defRPr>
            </a:lvl7pPr>
            <a:lvl8pPr>
              <a:defRPr sz="1875" b="0">
                <a:solidFill>
                  <a:srgbClr val="526678"/>
                </a:solidFill>
                <a:latin typeface="Arial"/>
                <a:ea typeface="Arial"/>
                <a:cs typeface="Arial"/>
              </a:defRPr>
            </a:lvl8pPr>
            <a:lvl9pPr>
              <a:defRPr sz="1875" b="0">
                <a:solidFill>
                  <a:srgbClr val="526678"/>
                </a:solidFill>
                <a:latin typeface="Arial"/>
                <a:ea typeface="Arial"/>
                <a:cs typeface="Arial"/>
              </a:defRPr>
            </a:lvl9pPr>
          </a:lstStyle>
          <a:p xmlns:a="http://schemas.openxmlformats.org/drawingml/2006/main">
            <a:pPr>
              <a:defRPr sz="1875" b="0">
                <a:solidFill>
                  <a:srgbClr val="526678"/>
                </a:solidFill>
                <a:latin typeface="Arial"/>
                <a:ea typeface="Arial"/>
                <a:cs typeface="Arial"/>
              </a:defRPr>
            </a:pPr>
            <a:r>
              <a:rPr sz="1875" b="0">
                <a:solidFill>
                  <a:srgbClr val="526678"/>
                </a:solidFill>
                <a:latin typeface="Arial"/>
                <a:ea typeface="Arial"/>
                <a:cs typeface="Arial"/>
              </a:rPr>
              <a:t>Recorded outputs, source mapping and hashes support the demonstration.</a:t>
            </a:r>
          </a:p>
        </p:txBody>
      </p:sp>
      <p:sp>
        <p:nvSpPr>
          <p:cNvPr id="3" name="12">
            <a:extLst xmlns:a="http://schemas.openxmlformats.org/drawingml/2006/main">
              <a:ext uri="{FF2B5EF4-FFF2-40B4-BE49-F238E27FC236}">
                <a16:creationId xmlns:a16="http://schemas.microsoft.com/office/drawing/2014/main" id="{37462F44-EBE2-4ED5-8078-C61821CFFD1C}"/>
              </a:ext>
            </a:extLst>
          </p:cNvPr>
          <p:cNvSpPr>
            <a:spLocks xmlns:a="http://schemas.openxmlformats.org/drawingml/2006/main" noGrp="1"/>
          </p:cNvSpPr>
          <p:nvPr/>
        </p:nvSpPr>
        <p:spPr>
          <a:xfrm xmlns:a="http://schemas.openxmlformats.org/drawingml/2006/main">
            <a:off x="10953750" y="6486525"/>
            <a:ext cx="628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678"/>
                </a:solidFill>
                <a:latin typeface="Arial"/>
                <a:ea typeface="Arial"/>
                <a:cs typeface="Arial"/>
              </a:defRPr>
            </a:defPPr>
            <a:lvl1pPr>
              <a:defRPr sz="1200" b="0">
                <a:solidFill>
                  <a:srgbClr val="526678"/>
                </a:solidFill>
                <a:latin typeface="Arial"/>
                <a:ea typeface="Arial"/>
                <a:cs typeface="Arial"/>
              </a:defRPr>
            </a:lvl1pPr>
            <a:lvl2pPr>
              <a:defRPr sz="1200" b="0">
                <a:solidFill>
                  <a:srgbClr val="526678"/>
                </a:solidFill>
                <a:latin typeface="Arial"/>
                <a:ea typeface="Arial"/>
                <a:cs typeface="Arial"/>
              </a:defRPr>
            </a:lvl2pPr>
            <a:lvl3pPr>
              <a:defRPr sz="1200" b="0">
                <a:solidFill>
                  <a:srgbClr val="526678"/>
                </a:solidFill>
                <a:latin typeface="Arial"/>
                <a:ea typeface="Arial"/>
                <a:cs typeface="Arial"/>
              </a:defRPr>
            </a:lvl3pPr>
            <a:lvl4pPr>
              <a:defRPr sz="1200" b="0">
                <a:solidFill>
                  <a:srgbClr val="526678"/>
                </a:solidFill>
                <a:latin typeface="Arial"/>
                <a:ea typeface="Arial"/>
                <a:cs typeface="Arial"/>
              </a:defRPr>
            </a:lvl4pPr>
            <a:lvl5pPr>
              <a:defRPr sz="1200" b="0">
                <a:solidFill>
                  <a:srgbClr val="526678"/>
                </a:solidFill>
                <a:latin typeface="Arial"/>
                <a:ea typeface="Arial"/>
                <a:cs typeface="Arial"/>
              </a:defRPr>
            </a:lvl5pPr>
            <a:lvl6pPr>
              <a:defRPr sz="1200" b="0">
                <a:solidFill>
                  <a:srgbClr val="526678"/>
                </a:solidFill>
                <a:latin typeface="Arial"/>
                <a:ea typeface="Arial"/>
                <a:cs typeface="Arial"/>
              </a:defRPr>
            </a:lvl6pPr>
            <a:lvl7pPr>
              <a:defRPr sz="1200" b="0">
                <a:solidFill>
                  <a:srgbClr val="526678"/>
                </a:solidFill>
                <a:latin typeface="Arial"/>
                <a:ea typeface="Arial"/>
                <a:cs typeface="Arial"/>
              </a:defRPr>
            </a:lvl7pPr>
            <a:lvl8pPr>
              <a:defRPr sz="1200" b="0">
                <a:solidFill>
                  <a:srgbClr val="526678"/>
                </a:solidFill>
                <a:latin typeface="Arial"/>
                <a:ea typeface="Arial"/>
                <a:cs typeface="Arial"/>
              </a:defRPr>
            </a:lvl8pPr>
            <a:lvl9pPr>
              <a:defRPr sz="1200" b="0">
                <a:solidFill>
                  <a:srgbClr val="526678"/>
                </a:solidFill>
                <a:latin typeface="Arial"/>
                <a:ea typeface="Arial"/>
                <a:cs typeface="Arial"/>
              </a:defRPr>
            </a:lvl9pPr>
          </a:lstStyle>
          <a:p xmlns:a="http://schemas.openxmlformats.org/drawingml/2006/main">
            <a:pPr>
              <a:defRPr sz="1200" b="0">
                <a:solidFill>
                  <a:srgbClr val="526678"/>
                </a:solidFill>
                <a:latin typeface="Arial"/>
                <a:ea typeface="Arial"/>
                <a:cs typeface="Arial"/>
              </a:defRPr>
            </a:pPr>
            <a:r>
              <a:rPr sz="1200" b="0">
                <a:solidFill>
                  <a:srgbClr val="526678"/>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1D5D2E70-AF6B-4D08-9165-ECDFE6D8851E}"/>
              </a:ext>
            </a:extLst>
          </p:cNvPr>
          <p:cNvGraphicFramePr/>
          <p:nvPr/>
        </p:nvGraphicFramePr>
        <p:xfrm>
          <a:off xmlns:a="http://schemas.openxmlformats.org/drawingml/2006/main" x="609600" y="2047875"/>
          <a:ext xmlns:a="http://schemas.openxmlformats.org/drawingml/2006/main" cx="10972800" cy="2714625"/>
        </p:xfrm>
        <a:graphic xmlns:a="http://schemas.openxmlformats.org/drawingml/2006/main">
          <a:graphicData uri="http://schemas.openxmlformats.org/drawingml/2006/table">
            <a:tbl>
              <a:tblPr firstRow="1" bandRow="0"/>
              <a:tblGrid>
                <a:gridCol w="8191500"/>
                <a:gridCol w="2781300"/>
              </a:tblGrid>
              <a:tr h="452438">
                <a:tc>
                  <a:txBody>
                    <a:bodyPr wrap="square" lIns="95250" tIns="57150" rIns="95250" bIns="57150">
                      <a:noAutofit/>
                    </a:bodyPr>
                    <a:lstStyle/>
                    <a:p>
                      <a:pPr algn="l"/>
                      <a:r>
                        <a:rPr sz="1725" b="1">
                          <a:solidFill>
                            <a:srgbClr val="142E43"/>
                          </a:solidFill>
                          <a:latin typeface="Arial"/>
                          <a:ea typeface="Arial"/>
                          <a:cs typeface="Arial"/>
                        </a:rPr>
                        <a:t>Accounting scope</a:t>
                      </a:r>
                    </a:p>
                  </a:txBody>
                  <a:tcPr marL="91440" marR="91440" marT="45720" marB="45720" anchor="ctr">
                    <a:lnL w="9525">
                      <a:solidFill>
                        <a:srgbClr val="D5DEE5"/>
                      </a:solidFill>
                      <a:prstDash val="solid"/>
                    </a:lnL>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c>
                  <a:txBody>
                    <a:bodyPr wrap="square" lIns="95250" tIns="57150" rIns="95250" bIns="57150">
                      <a:noAutofit/>
                    </a:bodyPr>
                    <a:lstStyle/>
                    <a:p>
                      <a:pPr algn="ctr"/>
                      <a:r>
                        <a:rPr sz="1725" b="1">
                          <a:solidFill>
                            <a:srgbClr val="142E43"/>
                          </a:solidFill>
                          <a:latin typeface="Arial"/>
                          <a:ea typeface="Arial"/>
                          <a:cs typeface="Arial"/>
                        </a:rPr>
                        <a:t>GPU wall hours</a:t>
                      </a:r>
                    </a:p>
                  </a:txBody>
                  <a:tcPr marL="91440" marR="91440" marT="45720" marB="45720" anchor="ctr">
                    <a:lnR w="9525">
                      <a:solidFill>
                        <a:srgbClr val="D5DEE5"/>
                      </a:solidFill>
                      <a:prstDash val="solid"/>
                    </a:lnR>
                    <a:lnT w="9525">
                      <a:solidFill>
                        <a:srgbClr val="D5DEE5"/>
                      </a:solidFill>
                      <a:prstDash val="solid"/>
                    </a:lnT>
                    <a:lnB w="9525">
                      <a:solidFill>
                        <a:srgbClr val="D5DEE5"/>
                      </a:solidFill>
                      <a:prstDash val="solid"/>
                    </a:lnB>
                    <a:solidFill>
                      <a:srgbClr val="E7EEF3"/>
                    </a:solidFill>
                  </a:tcPr>
                </a:tc>
              </a:tr>
              <a:tr h="452438">
                <a:tc>
                  <a:txBody>
                    <a:bodyPr wrap="square" lIns="95250" tIns="57150" rIns="95250" bIns="57150">
                      <a:noAutofit/>
                    </a:bodyPr>
                    <a:lstStyle/>
                    <a:p>
                      <a:pPr algn="l"/>
                      <a:r>
                        <a:rPr sz="1800" b="0">
                          <a:solidFill>
                            <a:srgbClr val="142E43"/>
                          </a:solidFill>
                          <a:latin typeface="Arial"/>
                          <a:ea typeface="Arial"/>
                          <a:cs typeface="Arial"/>
                        </a:rPr>
                        <a:t>Six formal baseline runner records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2.692921</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52438">
                <a:tc>
                  <a:txBody>
                    <a:bodyPr wrap="square" lIns="95250" tIns="57150" rIns="95250" bIns="57150">
                      <a:noAutofit/>
                    </a:bodyPr>
                    <a:lstStyle/>
                    <a:p>
                      <a:pPr algn="l"/>
                      <a:r>
                        <a:rPr sz="1800" b="0">
                          <a:solidFill>
                            <a:srgbClr val="142E43"/>
                          </a:solidFill>
                          <a:latin typeface="Arial"/>
                          <a:ea typeface="Arial"/>
                          <a:cs typeface="Arial"/>
                        </a:rPr>
                        <a:t>Baseline queue including pilots/boundaries</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2.759076</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52438">
                <a:tc>
                  <a:txBody>
                    <a:bodyPr wrap="square" lIns="95250" tIns="57150" rIns="95250" bIns="57150">
                      <a:noAutofit/>
                    </a:bodyPr>
                    <a:lstStyle/>
                    <a:p>
                      <a:pPr algn="l"/>
                      <a:r>
                        <a:rPr sz="1800" b="0">
                          <a:solidFill>
                            <a:srgbClr val="142E43"/>
                          </a:solidFill>
                          <a:latin typeface="Arial"/>
                          <a:ea typeface="Arial"/>
                          <a:cs typeface="Arial"/>
                        </a:rPr>
                        <a:t>Additional research charged</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0.775006</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52438">
                <a:tc>
                  <a:txBody>
                    <a:bodyPr wrap="square" lIns="95250" tIns="57150" rIns="95250" bIns="57150">
                      <a:noAutofit/>
                    </a:bodyPr>
                    <a:lstStyle/>
                    <a:p>
                      <a:pPr algn="l"/>
                      <a:r>
                        <a:rPr sz="1800" b="0">
                          <a:solidFill>
                            <a:srgbClr val="142E43"/>
                          </a:solidFill>
                          <a:latin typeface="Arial"/>
                          <a:ea typeface="Arial"/>
                          <a:cs typeface="Arial"/>
                        </a:rPr>
                        <a:t>Unmeasured setup reserve</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0.020000</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r h="452438">
                <a:tc>
                  <a:txBody>
                    <a:bodyPr wrap="square" lIns="95250" tIns="57150" rIns="95250" bIns="57150">
                      <a:noAutofit/>
                    </a:bodyPr>
                    <a:lstStyle/>
                    <a:p>
                      <a:pPr algn="l"/>
                      <a:r>
                        <a:rPr sz="1800" b="0">
                          <a:solidFill>
                            <a:srgbClr val="142E43"/>
                          </a:solidFill>
                          <a:latin typeface="Arial"/>
                          <a:ea typeface="Arial"/>
                          <a:cs typeface="Arial"/>
                        </a:rPr>
                        <a:t>Additional remaining after reserve</a:t>
                      </a:r>
                    </a:p>
                  </a:txBody>
                  <a:tcPr marL="91440" marR="91440" marT="45720" marB="45720" anchor="ctr">
                    <a:lnL w="9525">
                      <a:solidFill>
                        <a:srgbClr val="D5DEE5"/>
                      </a:solidFill>
                      <a:prstDash val="solid"/>
                    </a:lnL>
                    <a:lnR w="9525">
                      <a:solidFill>
                        <a:srgbClr val="D5DEE5"/>
                      </a:solidFill>
                      <a:prstDash val="solid"/>
                    </a:lnR>
                    <a:lnB w="9525">
                      <a:solidFill>
                        <a:srgbClr val="D5DEE5"/>
                      </a:solidFill>
                      <a:prstDash val="solid"/>
                    </a:lnB>
                    <a:solidFill>
                      <a:srgbClr val="FFFFFF"/>
                    </a:solidFill>
                  </a:tcPr>
                </a:tc>
                <a:tc>
                  <a:txBody>
                    <a:bodyPr wrap="square" lIns="95250" tIns="57150" rIns="95250" bIns="57150">
                      <a:noAutofit/>
                    </a:bodyPr>
                    <a:lstStyle/>
                    <a:p>
                      <a:pPr algn="ctr"/>
                      <a:r>
                        <a:rPr sz="1800" b="0">
                          <a:solidFill>
                            <a:srgbClr val="142E43"/>
                          </a:solidFill>
                          <a:latin typeface="Arial"/>
                          <a:ea typeface="Arial"/>
                          <a:cs typeface="Arial"/>
                        </a:rPr>
                        <a:t>11.204994</a:t>
                      </a:r>
                    </a:p>
                  </a:txBody>
                  <a:tcPr marL="91440" marR="91440" marT="45720" marB="45720" anchor="ctr">
                    <a:lnR w="9525">
                      <a:solidFill>
                        <a:srgbClr val="D5DEE5"/>
                      </a:solidFill>
                      <a:prstDash val="solid"/>
                    </a:lnR>
                    <a:lnB w="9525">
                      <a:solidFill>
                        <a:srgbClr val="D5DEE5"/>
                      </a:solidFill>
                      <a:prstDash val="solid"/>
                    </a:lnB>
                    <a:solidFill>
                      <a:srgbClr val="FFFFFF"/>
                    </a:solidFill>
                  </a:tcPr>
                </a:tc>
              </a:tr>
            </a:tbl>
          </a:graphicData>
        </a:graphic>
      </p:graphicFrame>
      <p:sp>
        <p:nvSpPr>
          <p:cNvPr id="5" name="Result  /  commit  /  config  /  seed and command ">
            <a:extLst xmlns:a="http://schemas.openxmlformats.org/drawingml/2006/main">
              <a:ext uri="{FF2B5EF4-FFF2-40B4-BE49-F238E27FC236}">
                <a16:creationId xmlns:a16="http://schemas.microsoft.com/office/drawing/2014/main" id="{12CB9691-B33E-4641-872E-23019EDE0568}"/>
              </a:ext>
            </a:extLst>
          </p:cNvPr>
          <p:cNvSpPr>
            <a:spLocks xmlns:a="http://schemas.openxmlformats.org/drawingml/2006/main" noGrp="1"/>
          </p:cNvSpPr>
          <p:nvPr/>
        </p:nvSpPr>
        <p:spPr>
          <a:xfrm xmlns:a="http://schemas.openxmlformats.org/drawingml/2006/main">
            <a:off x="609600" y="51911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42E43"/>
                </a:solidFill>
                <a:latin typeface="Arial"/>
                <a:ea typeface="Arial"/>
                <a:cs typeface="Arial"/>
              </a:defRPr>
            </a:defPPr>
            <a:lvl1pPr>
              <a:defRPr sz="1875" b="1">
                <a:solidFill>
                  <a:srgbClr val="142E43"/>
                </a:solidFill>
                <a:latin typeface="Arial"/>
                <a:ea typeface="Arial"/>
                <a:cs typeface="Arial"/>
              </a:defRPr>
            </a:lvl1pPr>
            <a:lvl2pPr>
              <a:defRPr sz="1875" b="1">
                <a:solidFill>
                  <a:srgbClr val="142E43"/>
                </a:solidFill>
                <a:latin typeface="Arial"/>
                <a:ea typeface="Arial"/>
                <a:cs typeface="Arial"/>
              </a:defRPr>
            </a:lvl2pPr>
            <a:lvl3pPr>
              <a:defRPr sz="1875" b="1">
                <a:solidFill>
                  <a:srgbClr val="142E43"/>
                </a:solidFill>
                <a:latin typeface="Arial"/>
                <a:ea typeface="Arial"/>
                <a:cs typeface="Arial"/>
              </a:defRPr>
            </a:lvl3pPr>
            <a:lvl4pPr>
              <a:defRPr sz="1875" b="1">
                <a:solidFill>
                  <a:srgbClr val="142E43"/>
                </a:solidFill>
                <a:latin typeface="Arial"/>
                <a:ea typeface="Arial"/>
                <a:cs typeface="Arial"/>
              </a:defRPr>
            </a:lvl4pPr>
            <a:lvl5pPr>
              <a:defRPr sz="1875" b="1">
                <a:solidFill>
                  <a:srgbClr val="142E43"/>
                </a:solidFill>
                <a:latin typeface="Arial"/>
                <a:ea typeface="Arial"/>
                <a:cs typeface="Arial"/>
              </a:defRPr>
            </a:lvl5pPr>
            <a:lvl6pPr>
              <a:defRPr sz="1875" b="1">
                <a:solidFill>
                  <a:srgbClr val="142E43"/>
                </a:solidFill>
                <a:latin typeface="Arial"/>
                <a:ea typeface="Arial"/>
                <a:cs typeface="Arial"/>
              </a:defRPr>
            </a:lvl6pPr>
            <a:lvl7pPr>
              <a:defRPr sz="1875" b="1">
                <a:solidFill>
                  <a:srgbClr val="142E43"/>
                </a:solidFill>
                <a:latin typeface="Arial"/>
                <a:ea typeface="Arial"/>
                <a:cs typeface="Arial"/>
              </a:defRPr>
            </a:lvl7pPr>
            <a:lvl8pPr>
              <a:defRPr sz="1875" b="1">
                <a:solidFill>
                  <a:srgbClr val="142E43"/>
                </a:solidFill>
                <a:latin typeface="Arial"/>
                <a:ea typeface="Arial"/>
                <a:cs typeface="Arial"/>
              </a:defRPr>
            </a:lvl8pPr>
            <a:lvl9pPr>
              <a:defRPr sz="1875" b="1">
                <a:solidFill>
                  <a:srgbClr val="142E43"/>
                </a:solidFill>
                <a:latin typeface="Arial"/>
                <a:ea typeface="Arial"/>
                <a:cs typeface="Arial"/>
              </a:defRPr>
            </a:lvl9pPr>
          </a:lstStyle>
          <a:p xmlns:a="http://schemas.openxmlformats.org/drawingml/2006/main">
            <a:pPr>
              <a:defRPr sz="1875" b="1">
                <a:solidFill>
                  <a:srgbClr val="142E43"/>
                </a:solidFill>
                <a:latin typeface="Arial"/>
                <a:ea typeface="Arial"/>
                <a:cs typeface="Arial"/>
              </a:defRPr>
            </a:pPr>
            <a:r>
              <a:rPr sz="1875" b="1">
                <a:solidFill>
                  <a:srgbClr val="142E43"/>
                </a:solidFill>
                <a:latin typeface="Arial"/>
                <a:ea typeface="Arial"/>
                <a:cs typeface="Arial"/>
              </a:rPr>
              <a:t>Result  /  commit  /  config  /  seed and command  /  log  /  output hash</a:t>
            </a:r>
          </a:p>
        </p:txBody>
      </p:sp>
      <p:sp>
        <p:nvSpPr>
          <p:cNvPr id="6" name="Baseline rows are alternative accounting scopes. A">
            <a:extLst xmlns:a="http://schemas.openxmlformats.org/drawingml/2006/main">
              <a:ext uri="{FF2B5EF4-FFF2-40B4-BE49-F238E27FC236}">
                <a16:creationId xmlns:a16="http://schemas.microsoft.com/office/drawing/2014/main" id="{2F1F1376-C054-4C69-A2CB-0E24F1EF0D28}"/>
              </a:ext>
            </a:extLst>
          </p:cNvPr>
          <p:cNvSpPr>
            <a:spLocks xmlns:a="http://schemas.openxmlformats.org/drawingml/2006/main" noGrp="1"/>
          </p:cNvSpPr>
          <p:nvPr/>
        </p:nvSpPr>
        <p:spPr>
          <a:xfrm xmlns:a="http://schemas.openxmlformats.org/drawingml/2006/main">
            <a:off x="609600" y="59340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678"/>
                </a:solidFill>
                <a:latin typeface="Arial"/>
                <a:ea typeface="Arial"/>
                <a:cs typeface="Arial"/>
              </a:defRPr>
            </a:defPPr>
            <a:lvl1pPr>
              <a:defRPr sz="1425" b="0">
                <a:solidFill>
                  <a:srgbClr val="526678"/>
                </a:solidFill>
                <a:latin typeface="Arial"/>
                <a:ea typeface="Arial"/>
                <a:cs typeface="Arial"/>
              </a:defRPr>
            </a:lvl1pPr>
            <a:lvl2pPr>
              <a:defRPr sz="1425" b="0">
                <a:solidFill>
                  <a:srgbClr val="526678"/>
                </a:solidFill>
                <a:latin typeface="Arial"/>
                <a:ea typeface="Arial"/>
                <a:cs typeface="Arial"/>
              </a:defRPr>
            </a:lvl2pPr>
            <a:lvl3pPr>
              <a:defRPr sz="1425" b="0">
                <a:solidFill>
                  <a:srgbClr val="526678"/>
                </a:solidFill>
                <a:latin typeface="Arial"/>
                <a:ea typeface="Arial"/>
                <a:cs typeface="Arial"/>
              </a:defRPr>
            </a:lvl3pPr>
            <a:lvl4pPr>
              <a:defRPr sz="1425" b="0">
                <a:solidFill>
                  <a:srgbClr val="526678"/>
                </a:solidFill>
                <a:latin typeface="Arial"/>
                <a:ea typeface="Arial"/>
                <a:cs typeface="Arial"/>
              </a:defRPr>
            </a:lvl4pPr>
            <a:lvl5pPr>
              <a:defRPr sz="1425" b="0">
                <a:solidFill>
                  <a:srgbClr val="526678"/>
                </a:solidFill>
                <a:latin typeface="Arial"/>
                <a:ea typeface="Arial"/>
                <a:cs typeface="Arial"/>
              </a:defRPr>
            </a:lvl5pPr>
            <a:lvl6pPr>
              <a:defRPr sz="1425" b="0">
                <a:solidFill>
                  <a:srgbClr val="526678"/>
                </a:solidFill>
                <a:latin typeface="Arial"/>
                <a:ea typeface="Arial"/>
                <a:cs typeface="Arial"/>
              </a:defRPr>
            </a:lvl6pPr>
            <a:lvl7pPr>
              <a:defRPr sz="1425" b="0">
                <a:solidFill>
                  <a:srgbClr val="526678"/>
                </a:solidFill>
                <a:latin typeface="Arial"/>
                <a:ea typeface="Arial"/>
                <a:cs typeface="Arial"/>
              </a:defRPr>
            </a:lvl7pPr>
            <a:lvl8pPr>
              <a:defRPr sz="1425" b="0">
                <a:solidFill>
                  <a:srgbClr val="526678"/>
                </a:solidFill>
                <a:latin typeface="Arial"/>
                <a:ea typeface="Arial"/>
                <a:cs typeface="Arial"/>
              </a:defRPr>
            </a:lvl8pPr>
            <a:lvl9pPr>
              <a:defRPr sz="1425" b="0">
                <a:solidFill>
                  <a:srgbClr val="526678"/>
                </a:solidFill>
                <a:latin typeface="Arial"/>
                <a:ea typeface="Arial"/>
                <a:cs typeface="Arial"/>
              </a:defRPr>
            </a:lvl9pPr>
          </a:lstStyle>
          <a:p xmlns:a="http://schemas.openxmlformats.org/drawingml/2006/main">
            <a:pPr>
              <a:defRPr sz="1425" b="0">
                <a:solidFill>
                  <a:srgbClr val="526678"/>
                </a:solidFill>
                <a:latin typeface="Arial"/>
                <a:ea typeface="Arial"/>
                <a:cs typeface="Arial"/>
              </a:defRPr>
            </a:pPr>
            <a:r>
              <a:rPr sz="1425" b="0">
                <a:solidFill>
                  <a:srgbClr val="526678"/>
                </a:solidFill>
                <a:latin typeface="Arial"/>
                <a:ea typeface="Arial"/>
                <a:cs typeface="Arial"/>
              </a:rPr>
              <a:t>Baseline rows are alternative accounting scopes. Additional research cap: 12 GPU-hours.</a:t>
            </a:r>
          </a:p>
        </p:txBody>
      </p:sp>
    </p:spTree>
    <p:extLst>
      <p:ext uri="{BB962C8B-B14F-4D97-AF65-F5344CB8AC3E}">
        <p14:creationId xmlns:p14="http://schemas.microsoft.com/office/powerpoint/2010/main" val="176295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2026-10-31T09:06:33.1710000Z</dcterms:created>
  <dcterms:modified xsi:type="dcterms:W3CDTF">2026-10-31T09:06:33.1710000Z</dcterms:modified>
</coreProperties>
</file>